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Segmentation Metrics</a:t>
            </a:r>
          </a:p>
        </c:rich>
      </c:tx>
      <c:layout/>
      <c:overlay val="0"/>
    </c:title>
    <c:autoTitleDeleted val="0"/>
    <c:plotArea>
      <c:layout/>
      <c:barChart>
        <c:barDir val="col"/>
        <c:grouping val="clustered"/>
        <c:varyColors val="0"/>
        <c:ser>
          <c:idx val="0"/>
          <c:order val="0"/>
          <c:tx>
            <c:strRef>
              <c:f>Sheet1!$B$1</c:f>
              <c:strCache>
                <c:ptCount val="1"/>
                <c:pt idx="0">
                  <c:v>Score (%)</c:v>
                </c:pt>
              </c:strCache>
            </c:strRef>
          </c:tx>
          <c:spPr>
            <a:solidFill>
              <a:srgbClr val="1C8FA0"/>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Dice</c:v>
                  </c:pt>
                  <c:pt idx="1">
                    <c:v>IoU</c:v>
                  </c:pt>
                  <c:pt idx="2">
                    <c:v>Precision</c:v>
                  </c:pt>
                  <c:pt idx="3">
                    <c:v>Recall</c:v>
                  </c:pt>
                </c:lvl>
              </c:multiLvlStrCache>
            </c:multiLvlStrRef>
          </c:cat>
          <c:val>
            <c:numRef>
              <c:f>Sheet1!$B$2:$B$5</c:f>
              <c:numCache>
                <c:formatCode>General</c:formatCode>
                <c:ptCount val="4"/>
                <c:pt idx="0">
                  <c:v>93.17</c:v>
                </c:pt>
                <c:pt idx="1">
                  <c:v>87.22</c:v>
                </c:pt>
                <c:pt idx="2">
                  <c:v>92.43</c:v>
                </c:pt>
                <c:pt idx="3">
                  <c:v>93.93</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34A63"/>
            </a:solidFill>
            <a:prstDash val="solid"/>
            <a:round/>
          </a:ln>
        </c:spPr>
        <c:txPr>
          <a:bodyPr/>
          <a:lstStyle/>
          <a:p>
            <a:pPr>
              <a:defRPr sz="1200" b="0" i="0" u="none" strike="noStrike">
                <a:solidFill>
                  <a:srgbClr val="C7D6E3"/>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1A3A52"/>
              </a:solidFill>
              <a:prstDash val="solid"/>
              <a:round/>
            </a:ln>
          </c:spPr>
        </c:majorGridlines>
        <c:numFmt formatCode="General" sourceLinked="0"/>
        <c:majorTickMark val="out"/>
        <c:minorTickMark val="none"/>
        <c:tickLblPos val="nextTo"/>
        <c:spPr>
          <a:ln w="12700" cap="flat">
            <a:solidFill>
              <a:srgbClr val="234A63"/>
            </a:solidFill>
            <a:prstDash val="solid"/>
            <a:round/>
          </a:ln>
        </c:spPr>
        <c:txPr>
          <a:bodyPr/>
          <a:lstStyle/>
          <a:p>
            <a:pPr>
              <a:defRPr sz="1200" b="0" i="0" u="none" strike="noStrike">
                <a:solidFill>
                  <a:srgbClr val="C7D6E3"/>
                </a:solidFill>
                <a:latin typeface="Arial"/>
              </a:defRPr>
            </a:pPr>
            <a:endParaRPr lang="en-US"/>
          </a:p>
        </c:txPr>
        <c:crossAx val="2094734554"/>
        <c:crosses val="autoZero"/>
        <c:crossBetween val="between"/>
      </c:valAx>
      <c:spPr>
        <a:solidFill>
          <a:srgbClr val="071F33"/>
        </a:solidFill>
        <a:ln>
          <a:noFill/>
        </a:ln>
        <a:effectLst/>
      </c:spPr>
    </c:plotArea>
    <c:plotVisOnly val="1"/>
    <c:dispBlanksAs val="span"/>
  </c:chart>
  <c:spPr>
    <a:solidFill>
      <a:srgbClr val="071F3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F33"/>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0B3D62"/>
          </a:solidFill>
          <a:ln/>
        </p:spPr>
      </p:sp>
      <p:sp>
        <p:nvSpPr>
          <p:cNvPr id="3" name="Shape 1"/>
          <p:cNvSpPr/>
          <p:nvPr/>
        </p:nvSpPr>
        <p:spPr>
          <a:xfrm>
            <a:off x="10424160" y="4206240"/>
            <a:ext cx="2926080" cy="2926080"/>
          </a:xfrm>
          <a:prstGeom prst="ellipse">
            <a:avLst/>
          </a:prstGeom>
          <a:solidFill>
            <a:srgbClr val="1C8FA0">
              <a:alpha val="22000"/>
            </a:srgbClr>
          </a:solidFill>
          <a:ln/>
        </p:spPr>
      </p:sp>
      <p:sp>
        <p:nvSpPr>
          <p:cNvPr id="4" name="Shape 2"/>
          <p:cNvSpPr/>
          <p:nvPr/>
        </p:nvSpPr>
        <p:spPr>
          <a:xfrm>
            <a:off x="-1097280" y="4846320"/>
            <a:ext cx="3291840" cy="3291840"/>
          </a:xfrm>
          <a:prstGeom prst="ellipse">
            <a:avLst/>
          </a:prstGeom>
          <a:solidFill>
            <a:srgbClr val="0B3D62"/>
          </a:solidFill>
          <a:ln/>
        </p:spPr>
      </p:sp>
      <p:sp>
        <p:nvSpPr>
          <p:cNvPr id="5" name="Shape 3"/>
          <p:cNvSpPr/>
          <p:nvPr/>
        </p:nvSpPr>
        <p:spPr>
          <a:xfrm>
            <a:off x="640080" y="640080"/>
            <a:ext cx="640080" cy="640080"/>
          </a:xfrm>
          <a:prstGeom prst="ellipse">
            <a:avLst/>
          </a:prstGeom>
          <a:solidFill>
            <a:srgbClr val="1C8FA0"/>
          </a:solidFill>
          <a:ln/>
        </p:spPr>
      </p:sp>
      <p:pic>
        <p:nvPicPr>
          <p:cNvPr id="6" name="Image 0" descr="icons/robot_white.png">    </p:cNvPr>
          <p:cNvPicPr>
            <a:picLocks noChangeAspect="1"/>
          </p:cNvPicPr>
          <p:nvPr/>
        </p:nvPicPr>
        <p:blipFill>
          <a:blip r:embed="rId1"/>
          <a:stretch>
            <a:fillRect/>
          </a:stretch>
        </p:blipFill>
        <p:spPr>
          <a:xfrm>
            <a:off x="723290" y="723290"/>
            <a:ext cx="473659" cy="473659"/>
          </a:xfrm>
          <a:prstGeom prst="rect">
            <a:avLst/>
          </a:prstGeom>
        </p:spPr>
      </p:pic>
      <p:sp>
        <p:nvSpPr>
          <p:cNvPr id="7" name="Text 4"/>
          <p:cNvSpPr/>
          <p:nvPr/>
        </p:nvSpPr>
        <p:spPr>
          <a:xfrm>
            <a:off x="1417320" y="658368"/>
            <a:ext cx="5486400" cy="365760"/>
          </a:xfrm>
          <a:prstGeom prst="rect">
            <a:avLst/>
          </a:prstGeom>
          <a:noFill/>
          <a:ln/>
        </p:spPr>
        <p:txBody>
          <a:bodyPr wrap="square" rtlCol="0" anchor="ctr"/>
          <a:lstStyle/>
          <a:p>
            <a:pPr indent="0" marL="0">
              <a:buNone/>
            </a:pPr>
            <a:r>
              <a:rPr lang="en-US" sz="1300" b="1" spc="200" kern="0" dirty="0">
                <a:solidFill>
                  <a:srgbClr val="F2A65A"/>
                </a:solidFill>
                <a:latin typeface="Calibri" pitchFamily="34" charset="0"/>
                <a:ea typeface="Calibri" pitchFamily="34" charset="-122"/>
                <a:cs typeface="Calibri" pitchFamily="34" charset="-120"/>
              </a:rPr>
              <a:t>DEEP LEARNING FOR SURGICAL ROBOTICS</a:t>
            </a:r>
            <a:endParaRPr lang="en-US" sz="1300" dirty="0"/>
          </a:p>
        </p:txBody>
      </p:sp>
      <p:sp>
        <p:nvSpPr>
          <p:cNvPr id="8" name="Text 5"/>
          <p:cNvSpPr/>
          <p:nvPr/>
        </p:nvSpPr>
        <p:spPr>
          <a:xfrm>
            <a:off x="640080" y="2148840"/>
            <a:ext cx="8412480" cy="1920240"/>
          </a:xfrm>
          <a:prstGeom prst="rect">
            <a:avLst/>
          </a:prstGeom>
          <a:noFill/>
          <a:ln/>
        </p:spPr>
        <p:txBody>
          <a:bodyPr wrap="square" rtlCol="0" anchor="ctr"/>
          <a:lstStyle/>
          <a:p>
            <a:pPr indent="0" marL="0">
              <a:lnSpc>
                <a:spcPts val="5200"/>
              </a:lnSpc>
              <a:buNone/>
            </a:pPr>
            <a:r>
              <a:rPr lang="en-US" sz="5000" b="1" dirty="0">
                <a:solidFill>
                  <a:srgbClr val="FFFFFF"/>
                </a:solidFill>
                <a:latin typeface="Cambria" pitchFamily="34" charset="0"/>
                <a:ea typeface="Cambria" pitchFamily="34" charset="-122"/>
                <a:cs typeface="Cambria" pitchFamily="34" charset="-120"/>
              </a:rPr>
              <a:t>AI-Assisted</a:t>
            </a:r>
            <a:endParaRPr lang="en-US" sz="5000" dirty="0"/>
          </a:p>
          <a:p>
            <a:pPr indent="0" marL="0">
              <a:lnSpc>
                <a:spcPts val="5200"/>
              </a:lnSpc>
              <a:buNone/>
            </a:pPr>
            <a:r>
              <a:rPr lang="en-US" sz="5000" b="1" dirty="0">
                <a:solidFill>
                  <a:srgbClr val="FFFFFF"/>
                </a:solidFill>
                <a:latin typeface="Cambria" pitchFamily="34" charset="0"/>
                <a:ea typeface="Cambria" pitchFamily="34" charset="-122"/>
                <a:cs typeface="Cambria" pitchFamily="34" charset="-120"/>
              </a:rPr>
              <a:t>Robotic Surgery</a:t>
            </a:r>
            <a:endParaRPr lang="en-US" sz="5000" dirty="0"/>
          </a:p>
        </p:txBody>
      </p:sp>
      <p:sp>
        <p:nvSpPr>
          <p:cNvPr id="9" name="Text 6"/>
          <p:cNvSpPr/>
          <p:nvPr/>
        </p:nvSpPr>
        <p:spPr>
          <a:xfrm>
            <a:off x="658368" y="4160520"/>
            <a:ext cx="7863840" cy="822960"/>
          </a:xfrm>
          <a:prstGeom prst="rect">
            <a:avLst/>
          </a:prstGeom>
          <a:noFill/>
          <a:ln/>
        </p:spPr>
        <p:txBody>
          <a:bodyPr wrap="square" rtlCol="0" anchor="ctr"/>
          <a:lstStyle/>
          <a:p>
            <a:pPr indent="0" marL="0">
              <a:lnSpc>
                <a:spcPts val="2200"/>
              </a:lnSpc>
              <a:buNone/>
            </a:pPr>
            <a:r>
              <a:rPr lang="en-US" sz="1600" dirty="0">
                <a:solidFill>
                  <a:srgbClr val="C7D6E3"/>
                </a:solidFill>
                <a:latin typeface="Calibri" pitchFamily="34" charset="0"/>
                <a:ea typeface="Calibri" pitchFamily="34" charset="-122"/>
                <a:cs typeface="Calibri" pitchFamily="34" charset="-120"/>
              </a:rPr>
              <a:t>Instrument Detection, Tissue Segmentation, and Autonomous Motion Planning</a:t>
            </a:r>
            <a:endParaRPr lang="en-US" sz="1600" dirty="0"/>
          </a:p>
          <a:p>
            <a:pPr indent="0" marL="0">
              <a:lnSpc>
                <a:spcPts val="2200"/>
              </a:lnSpc>
              <a:buNone/>
            </a:pPr>
            <a:r>
              <a:rPr lang="en-US" sz="1600" dirty="0">
                <a:solidFill>
                  <a:srgbClr val="C7D6E3"/>
                </a:solidFill>
                <a:latin typeface="Calibri" pitchFamily="34" charset="0"/>
                <a:ea typeface="Calibri" pitchFamily="34" charset="-122"/>
                <a:cs typeface="Calibri" pitchFamily="34" charset="-120"/>
              </a:rPr>
              <a:t>with Deep Learning, ROS 2, and Gazebo Simulation</a:t>
            </a:r>
            <a:endParaRPr lang="en-US" sz="1600" dirty="0"/>
          </a:p>
        </p:txBody>
      </p:sp>
      <p:sp>
        <p:nvSpPr>
          <p:cNvPr id="10" name="Shape 7"/>
          <p:cNvSpPr/>
          <p:nvPr/>
        </p:nvSpPr>
        <p:spPr>
          <a:xfrm>
            <a:off x="658368" y="5166360"/>
            <a:ext cx="2926080" cy="0"/>
          </a:xfrm>
          <a:prstGeom prst="line">
            <a:avLst/>
          </a:prstGeom>
          <a:noFill/>
          <a:ln w="25400">
            <a:solidFill>
              <a:srgbClr val="1C8FA0"/>
            </a:solidFill>
            <a:prstDash val="solid"/>
          </a:ln>
        </p:spPr>
      </p:sp>
      <p:sp>
        <p:nvSpPr>
          <p:cNvPr id="11" name="Shape 8"/>
          <p:cNvSpPr/>
          <p:nvPr/>
        </p:nvSpPr>
        <p:spPr>
          <a:xfrm>
            <a:off x="658368" y="5532120"/>
            <a:ext cx="1908353" cy="384048"/>
          </a:xfrm>
          <a:prstGeom prst="roundRect">
            <a:avLst>
              <a:gd name="adj" fmla="val 19048"/>
            </a:avLst>
          </a:prstGeom>
          <a:solidFill>
            <a:srgbClr val="0B3D62"/>
          </a:solidFill>
          <a:ln w="9525">
            <a:solidFill>
              <a:srgbClr val="1C8FA0"/>
            </a:solidFill>
            <a:prstDash val="solid"/>
          </a:ln>
        </p:spPr>
      </p:sp>
      <p:sp>
        <p:nvSpPr>
          <p:cNvPr id="12" name="Text 9"/>
          <p:cNvSpPr/>
          <p:nvPr/>
        </p:nvSpPr>
        <p:spPr>
          <a:xfrm>
            <a:off x="658368" y="5532120"/>
            <a:ext cx="1908353"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EndoVis2017 Dataset</a:t>
            </a:r>
            <a:endParaRPr lang="en-US" sz="1100" dirty="0"/>
          </a:p>
        </p:txBody>
      </p:sp>
      <p:sp>
        <p:nvSpPr>
          <p:cNvPr id="13" name="Shape 10"/>
          <p:cNvSpPr/>
          <p:nvPr/>
        </p:nvSpPr>
        <p:spPr>
          <a:xfrm>
            <a:off x="2731313" y="5532120"/>
            <a:ext cx="1823314" cy="384048"/>
          </a:xfrm>
          <a:prstGeom prst="roundRect">
            <a:avLst>
              <a:gd name="adj" fmla="val 19048"/>
            </a:avLst>
          </a:prstGeom>
          <a:solidFill>
            <a:srgbClr val="0B3D62"/>
          </a:solidFill>
          <a:ln w="9525">
            <a:solidFill>
              <a:srgbClr val="1C8FA0"/>
            </a:solidFill>
            <a:prstDash val="solid"/>
          </a:ln>
        </p:spPr>
      </p:sp>
      <p:sp>
        <p:nvSpPr>
          <p:cNvPr id="14" name="Text 11"/>
          <p:cNvSpPr/>
          <p:nvPr/>
        </p:nvSpPr>
        <p:spPr>
          <a:xfrm>
            <a:off x="2731313" y="5532120"/>
            <a:ext cx="1823314"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U-Net Segmentation</a:t>
            </a:r>
            <a:endParaRPr lang="en-US" sz="1100" dirty="0"/>
          </a:p>
        </p:txBody>
      </p:sp>
      <p:sp>
        <p:nvSpPr>
          <p:cNvPr id="15" name="Shape 12"/>
          <p:cNvSpPr/>
          <p:nvPr/>
        </p:nvSpPr>
        <p:spPr>
          <a:xfrm>
            <a:off x="4719218" y="5532120"/>
            <a:ext cx="1483157" cy="384048"/>
          </a:xfrm>
          <a:prstGeom prst="roundRect">
            <a:avLst>
              <a:gd name="adj" fmla="val 19048"/>
            </a:avLst>
          </a:prstGeom>
          <a:solidFill>
            <a:srgbClr val="0B3D62"/>
          </a:solidFill>
          <a:ln w="9525">
            <a:solidFill>
              <a:srgbClr val="1C8FA0"/>
            </a:solidFill>
            <a:prstDash val="solid"/>
          </a:ln>
        </p:spPr>
      </p:sp>
      <p:sp>
        <p:nvSpPr>
          <p:cNvPr id="16" name="Text 13"/>
          <p:cNvSpPr/>
          <p:nvPr/>
        </p:nvSpPr>
        <p:spPr>
          <a:xfrm>
            <a:off x="4719218" y="5532120"/>
            <a:ext cx="1483157"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YOLO Detection</a:t>
            </a:r>
            <a:endParaRPr lang="en-US" sz="1100" dirty="0"/>
          </a:p>
        </p:txBody>
      </p:sp>
      <p:sp>
        <p:nvSpPr>
          <p:cNvPr id="17" name="Shape 14"/>
          <p:cNvSpPr/>
          <p:nvPr/>
        </p:nvSpPr>
        <p:spPr>
          <a:xfrm>
            <a:off x="6366967" y="5532120"/>
            <a:ext cx="1738274" cy="384048"/>
          </a:xfrm>
          <a:prstGeom prst="roundRect">
            <a:avLst>
              <a:gd name="adj" fmla="val 19048"/>
            </a:avLst>
          </a:prstGeom>
          <a:solidFill>
            <a:srgbClr val="0B3D62"/>
          </a:solidFill>
          <a:ln w="9525">
            <a:solidFill>
              <a:srgbClr val="1C8FA0"/>
            </a:solidFill>
            <a:prstDash val="solid"/>
          </a:ln>
        </p:spPr>
      </p:sp>
      <p:sp>
        <p:nvSpPr>
          <p:cNvPr id="18" name="Text 15"/>
          <p:cNvSpPr/>
          <p:nvPr/>
        </p:nvSpPr>
        <p:spPr>
          <a:xfrm>
            <a:off x="6366967" y="5532120"/>
            <a:ext cx="1738274" cy="38404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ROS 2 Integration</a:t>
            </a:r>
            <a:endParaRPr lang="en-US" sz="1100" dirty="0"/>
          </a:p>
        </p:txBody>
      </p:sp>
      <p:sp>
        <p:nvSpPr>
          <p:cNvPr id="19" name="Text 16"/>
          <p:cNvSpPr/>
          <p:nvPr/>
        </p:nvSpPr>
        <p:spPr>
          <a:xfrm>
            <a:off x="658368" y="6263640"/>
            <a:ext cx="7315200" cy="320040"/>
          </a:xfrm>
          <a:prstGeom prst="rect">
            <a:avLst/>
          </a:prstGeom>
          <a:noFill/>
          <a:ln/>
        </p:spPr>
        <p:txBody>
          <a:bodyPr wrap="square" rtlCol="0" anchor="ctr"/>
          <a:lstStyle/>
          <a:p>
            <a:pPr indent="0" marL="0">
              <a:buNone/>
            </a:pPr>
            <a:r>
              <a:rPr lang="en-US" sz="1100" i="1" dirty="0">
                <a:solidFill>
                  <a:srgbClr val="5B6673"/>
                </a:solidFill>
                <a:latin typeface="Calibri" pitchFamily="34" charset="0"/>
                <a:ea typeface="Calibri" pitchFamily="34" charset="-122"/>
                <a:cs typeface="Calibri" pitchFamily="34" charset="-120"/>
              </a:rPr>
              <a:t>Deep Learning &amp; Robotics Capstone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Introduction to AI-Assisted Robotic Surgery</a:t>
            </a:r>
            <a:endParaRPr lang="en-US" sz="3000" dirty="0"/>
          </a:p>
        </p:txBody>
      </p:sp>
      <p:sp>
        <p:nvSpPr>
          <p:cNvPr id="4" name="Text 2"/>
          <p:cNvSpPr/>
          <p:nvPr/>
        </p:nvSpPr>
        <p:spPr>
          <a:xfrm>
            <a:off x="640080" y="1737360"/>
            <a:ext cx="6720840" cy="1005840"/>
          </a:xfrm>
          <a:prstGeom prst="rect">
            <a:avLst/>
          </a:prstGeom>
          <a:noFill/>
          <a:ln/>
        </p:spPr>
        <p:txBody>
          <a:bodyPr wrap="square" rtlCol="0" anchor="t"/>
          <a:lstStyle/>
          <a:p>
            <a:pPr indent="0" marL="0">
              <a:lnSpc>
                <a:spcPts val="2100"/>
              </a:lnSpc>
              <a:buNone/>
            </a:pPr>
            <a:r>
              <a:rPr lang="en-US" sz="1400" dirty="0">
                <a:solidFill>
                  <a:srgbClr val="1B1F24"/>
                </a:solidFill>
                <a:latin typeface="Calibri" pitchFamily="34" charset="0"/>
                <a:ea typeface="Calibri" pitchFamily="34" charset="-122"/>
                <a:cs typeface="Calibri" pitchFamily="34" charset="-120"/>
              </a:rPr>
              <a:t>Robot-assisted surgery gives surgeons precision, stability, and minimally invasive access, but the surgeon still carries the full cognitive load of identifying instruments, tissue boundaries, and safe motion paths in real time.</a:t>
            </a:r>
            <a:endParaRPr lang="en-US" sz="1400" dirty="0"/>
          </a:p>
        </p:txBody>
      </p:sp>
      <p:sp>
        <p:nvSpPr>
          <p:cNvPr id="5" name="Text 3"/>
          <p:cNvSpPr/>
          <p:nvPr/>
        </p:nvSpPr>
        <p:spPr>
          <a:xfrm>
            <a:off x="640080" y="2971800"/>
            <a:ext cx="6720840" cy="1005840"/>
          </a:xfrm>
          <a:prstGeom prst="rect">
            <a:avLst/>
          </a:prstGeom>
          <a:noFill/>
          <a:ln/>
        </p:spPr>
        <p:txBody>
          <a:bodyPr wrap="square" rtlCol="0" anchor="t"/>
          <a:lstStyle/>
          <a:p>
            <a:pPr indent="0" marL="0">
              <a:lnSpc>
                <a:spcPts val="2100"/>
              </a:lnSpc>
              <a:buNone/>
            </a:pPr>
            <a:r>
              <a:rPr lang="en-US" sz="1400" dirty="0">
                <a:solidFill>
                  <a:srgbClr val="1B1F24"/>
                </a:solidFill>
                <a:latin typeface="Calibri" pitchFamily="34" charset="0"/>
                <a:ea typeface="Calibri" pitchFamily="34" charset="-122"/>
                <a:cs typeface="Calibri" pitchFamily="34" charset="-120"/>
              </a:rPr>
              <a:t>This project explores how deep learning can augment that workflow — automatically detecting surgical instruments, segmenting tissue and target regions, and feeding that understanding into a ROS 2-controlled robotic pipeline.</a:t>
            </a:r>
            <a:endParaRPr lang="en-US" sz="1400" dirty="0"/>
          </a:p>
        </p:txBody>
      </p:sp>
      <p:sp>
        <p:nvSpPr>
          <p:cNvPr id="6" name="Text 4"/>
          <p:cNvSpPr/>
          <p:nvPr/>
        </p:nvSpPr>
        <p:spPr>
          <a:xfrm>
            <a:off x="640080" y="4206240"/>
            <a:ext cx="6720840" cy="1005840"/>
          </a:xfrm>
          <a:prstGeom prst="rect">
            <a:avLst/>
          </a:prstGeom>
          <a:noFill/>
          <a:ln/>
        </p:spPr>
        <p:txBody>
          <a:bodyPr wrap="square" rtlCol="0" anchor="t"/>
          <a:lstStyle/>
          <a:p>
            <a:pPr indent="0" marL="0">
              <a:lnSpc>
                <a:spcPts val="2100"/>
              </a:lnSpc>
              <a:buNone/>
            </a:pPr>
            <a:r>
              <a:rPr lang="en-US" sz="1400" dirty="0">
                <a:solidFill>
                  <a:srgbClr val="1B1F24"/>
                </a:solidFill>
                <a:latin typeface="Calibri" pitchFamily="34" charset="0"/>
                <a:ea typeface="Calibri" pitchFamily="34" charset="-122"/>
                <a:cs typeface="Calibri" pitchFamily="34" charset="-120"/>
              </a:rPr>
              <a:t>The result is a closed loop: perception models interpret the surgical scene, and that interpretation informs motion planning and control — a step toward safer, more autonomous surgical assistance.</a:t>
            </a:r>
            <a:endParaRPr lang="en-US" sz="1400" dirty="0"/>
          </a:p>
        </p:txBody>
      </p:sp>
      <p:sp>
        <p:nvSpPr>
          <p:cNvPr id="7" name="Shape 5"/>
          <p:cNvSpPr/>
          <p:nvPr/>
        </p:nvSpPr>
        <p:spPr>
          <a:xfrm>
            <a:off x="7635240" y="1691640"/>
            <a:ext cx="3931920" cy="4434840"/>
          </a:xfrm>
          <a:prstGeom prst="roundRect">
            <a:avLst>
              <a:gd name="adj" fmla="val 2791"/>
            </a:avLst>
          </a:prstGeom>
          <a:solidFill>
            <a:srgbClr val="F6F8FA"/>
          </a:solidFill>
          <a:ln w="12700">
            <a:solidFill>
              <a:srgbClr val="E3E8EE"/>
            </a:solidFill>
            <a:prstDash val="solid"/>
          </a:ln>
        </p:spPr>
      </p:sp>
      <p:sp>
        <p:nvSpPr>
          <p:cNvPr id="8" name="Shape 6"/>
          <p:cNvSpPr/>
          <p:nvPr/>
        </p:nvSpPr>
        <p:spPr>
          <a:xfrm>
            <a:off x="8001000" y="2011680"/>
            <a:ext cx="566928" cy="566928"/>
          </a:xfrm>
          <a:prstGeom prst="ellipse">
            <a:avLst/>
          </a:prstGeom>
          <a:solidFill>
            <a:srgbClr val="0B3D62"/>
          </a:solidFill>
          <a:ln/>
        </p:spPr>
      </p:sp>
      <p:pic>
        <p:nvPicPr>
          <p:cNvPr id="9" name="Image 0" descr="icons/hospital_white.png">    </p:cNvPr>
          <p:cNvPicPr>
            <a:picLocks noChangeAspect="1"/>
          </p:cNvPicPr>
          <p:nvPr/>
        </p:nvPicPr>
        <p:blipFill>
          <a:blip r:embed="rId1"/>
          <a:stretch>
            <a:fillRect/>
          </a:stretch>
        </p:blipFill>
        <p:spPr>
          <a:xfrm>
            <a:off x="8074701" y="2085381"/>
            <a:ext cx="419527" cy="419527"/>
          </a:xfrm>
          <a:prstGeom prst="rect">
            <a:avLst/>
          </a:prstGeom>
        </p:spPr>
      </p:pic>
      <p:sp>
        <p:nvSpPr>
          <p:cNvPr id="10" name="Text 7"/>
          <p:cNvSpPr/>
          <p:nvPr/>
        </p:nvSpPr>
        <p:spPr>
          <a:xfrm>
            <a:off x="8732520" y="2057400"/>
            <a:ext cx="2743200" cy="457200"/>
          </a:xfrm>
          <a:prstGeom prst="rect">
            <a:avLst/>
          </a:prstGeom>
          <a:noFill/>
          <a:ln/>
        </p:spPr>
        <p:txBody>
          <a:bodyPr wrap="square"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Why It Matters</a:t>
            </a:r>
            <a:endParaRPr lang="en-US" sz="1500" dirty="0"/>
          </a:p>
        </p:txBody>
      </p:sp>
      <p:sp>
        <p:nvSpPr>
          <p:cNvPr id="11" name="Shape 8"/>
          <p:cNvSpPr/>
          <p:nvPr/>
        </p:nvSpPr>
        <p:spPr>
          <a:xfrm>
            <a:off x="8001000" y="2843784"/>
            <a:ext cx="128016" cy="128016"/>
          </a:xfrm>
          <a:prstGeom prst="ellipse">
            <a:avLst/>
          </a:prstGeom>
          <a:solidFill>
            <a:srgbClr val="F2A65A"/>
          </a:solidFill>
          <a:ln/>
        </p:spPr>
      </p:sp>
      <p:sp>
        <p:nvSpPr>
          <p:cNvPr id="12" name="Text 9"/>
          <p:cNvSpPr/>
          <p:nvPr/>
        </p:nvSpPr>
        <p:spPr>
          <a:xfrm>
            <a:off x="8275320" y="2715768"/>
            <a:ext cx="3154680" cy="274320"/>
          </a:xfrm>
          <a:prstGeom prst="rect">
            <a:avLst/>
          </a:prstGeom>
          <a:noFill/>
          <a:ln/>
        </p:spPr>
        <p:txBody>
          <a:bodyPr wrap="square" rtlCol="0" anchor="ctr"/>
          <a:lstStyle/>
          <a:p>
            <a:pPr indent="0" marL="0">
              <a:buNone/>
            </a:pPr>
            <a:r>
              <a:rPr lang="en-US" sz="1300" b="1" dirty="0">
                <a:solidFill>
                  <a:srgbClr val="0B3D62"/>
                </a:solidFill>
                <a:latin typeface="Calibri" pitchFamily="34" charset="0"/>
                <a:ea typeface="Calibri" pitchFamily="34" charset="-122"/>
                <a:cs typeface="Calibri" pitchFamily="34" charset="-120"/>
              </a:rPr>
              <a:t>Precision</a:t>
            </a:r>
            <a:endParaRPr lang="en-US" sz="1300" dirty="0"/>
          </a:p>
        </p:txBody>
      </p:sp>
      <p:sp>
        <p:nvSpPr>
          <p:cNvPr id="13" name="Text 10"/>
          <p:cNvSpPr/>
          <p:nvPr/>
        </p:nvSpPr>
        <p:spPr>
          <a:xfrm>
            <a:off x="8275320" y="2971800"/>
            <a:ext cx="3154680" cy="457200"/>
          </a:xfrm>
          <a:prstGeom prst="rect">
            <a:avLst/>
          </a:prstGeom>
          <a:noFill/>
          <a:ln/>
        </p:spPr>
        <p:txBody>
          <a:bodyPr wrap="square" rtlCol="0" anchor="ctr"/>
          <a:lstStyle/>
          <a:p>
            <a:pPr indent="0" marL="0">
              <a:lnSpc>
                <a:spcPts val="1400"/>
              </a:lnSpc>
              <a:buNone/>
            </a:pPr>
            <a:r>
              <a:rPr lang="en-US" sz="1100" dirty="0">
                <a:solidFill>
                  <a:srgbClr val="5B6673"/>
                </a:solidFill>
                <a:latin typeface="Calibri" pitchFamily="34" charset="0"/>
                <a:ea typeface="Calibri" pitchFamily="34" charset="-122"/>
                <a:cs typeface="Calibri" pitchFamily="34" charset="-120"/>
              </a:rPr>
              <a:t>Sub-millimeter awareness of instrument and tissue position</a:t>
            </a:r>
            <a:endParaRPr lang="en-US" sz="1100" dirty="0"/>
          </a:p>
        </p:txBody>
      </p:sp>
      <p:sp>
        <p:nvSpPr>
          <p:cNvPr id="14" name="Shape 11"/>
          <p:cNvSpPr/>
          <p:nvPr/>
        </p:nvSpPr>
        <p:spPr>
          <a:xfrm>
            <a:off x="8001000" y="3685032"/>
            <a:ext cx="128016" cy="128016"/>
          </a:xfrm>
          <a:prstGeom prst="ellipse">
            <a:avLst/>
          </a:prstGeom>
          <a:solidFill>
            <a:srgbClr val="F2A65A"/>
          </a:solidFill>
          <a:ln/>
        </p:spPr>
      </p:sp>
      <p:sp>
        <p:nvSpPr>
          <p:cNvPr id="15" name="Text 12"/>
          <p:cNvSpPr/>
          <p:nvPr/>
        </p:nvSpPr>
        <p:spPr>
          <a:xfrm>
            <a:off x="8275320" y="3557016"/>
            <a:ext cx="3154680" cy="274320"/>
          </a:xfrm>
          <a:prstGeom prst="rect">
            <a:avLst/>
          </a:prstGeom>
          <a:noFill/>
          <a:ln/>
        </p:spPr>
        <p:txBody>
          <a:bodyPr wrap="square" rtlCol="0" anchor="ctr"/>
          <a:lstStyle/>
          <a:p>
            <a:pPr indent="0" marL="0">
              <a:buNone/>
            </a:pPr>
            <a:r>
              <a:rPr lang="en-US" sz="1300" b="1" dirty="0">
                <a:solidFill>
                  <a:srgbClr val="0B3D62"/>
                </a:solidFill>
                <a:latin typeface="Calibri" pitchFamily="34" charset="0"/>
                <a:ea typeface="Calibri" pitchFamily="34" charset="-122"/>
                <a:cs typeface="Calibri" pitchFamily="34" charset="-120"/>
              </a:rPr>
              <a:t>Consistency</a:t>
            </a:r>
            <a:endParaRPr lang="en-US" sz="1300" dirty="0"/>
          </a:p>
        </p:txBody>
      </p:sp>
      <p:sp>
        <p:nvSpPr>
          <p:cNvPr id="16" name="Text 13"/>
          <p:cNvSpPr/>
          <p:nvPr/>
        </p:nvSpPr>
        <p:spPr>
          <a:xfrm>
            <a:off x="8275320" y="3813048"/>
            <a:ext cx="3154680" cy="457200"/>
          </a:xfrm>
          <a:prstGeom prst="rect">
            <a:avLst/>
          </a:prstGeom>
          <a:noFill/>
          <a:ln/>
        </p:spPr>
        <p:txBody>
          <a:bodyPr wrap="square" rtlCol="0" anchor="ctr"/>
          <a:lstStyle/>
          <a:p>
            <a:pPr indent="0" marL="0">
              <a:lnSpc>
                <a:spcPts val="1400"/>
              </a:lnSpc>
              <a:buNone/>
            </a:pPr>
            <a:r>
              <a:rPr lang="en-US" sz="1100" dirty="0">
                <a:solidFill>
                  <a:srgbClr val="5B6673"/>
                </a:solidFill>
                <a:latin typeface="Calibri" pitchFamily="34" charset="0"/>
                <a:ea typeface="Calibri" pitchFamily="34" charset="-122"/>
                <a:cs typeface="Calibri" pitchFamily="34" charset="-120"/>
              </a:rPr>
              <a:t>Reduces variability from fatigue or limited visibility</a:t>
            </a:r>
            <a:endParaRPr lang="en-US" sz="1100" dirty="0"/>
          </a:p>
        </p:txBody>
      </p:sp>
      <p:sp>
        <p:nvSpPr>
          <p:cNvPr id="17" name="Shape 14"/>
          <p:cNvSpPr/>
          <p:nvPr/>
        </p:nvSpPr>
        <p:spPr>
          <a:xfrm>
            <a:off x="8001000" y="4526280"/>
            <a:ext cx="128016" cy="128016"/>
          </a:xfrm>
          <a:prstGeom prst="ellipse">
            <a:avLst/>
          </a:prstGeom>
          <a:solidFill>
            <a:srgbClr val="F2A65A"/>
          </a:solidFill>
          <a:ln/>
        </p:spPr>
      </p:sp>
      <p:sp>
        <p:nvSpPr>
          <p:cNvPr id="18" name="Text 15"/>
          <p:cNvSpPr/>
          <p:nvPr/>
        </p:nvSpPr>
        <p:spPr>
          <a:xfrm>
            <a:off x="8275320" y="4398264"/>
            <a:ext cx="3154680" cy="274320"/>
          </a:xfrm>
          <a:prstGeom prst="rect">
            <a:avLst/>
          </a:prstGeom>
          <a:noFill/>
          <a:ln/>
        </p:spPr>
        <p:txBody>
          <a:bodyPr wrap="square" rtlCol="0" anchor="ctr"/>
          <a:lstStyle/>
          <a:p>
            <a:pPr indent="0" marL="0">
              <a:buNone/>
            </a:pPr>
            <a:r>
              <a:rPr lang="en-US" sz="1300" b="1" dirty="0">
                <a:solidFill>
                  <a:srgbClr val="0B3D62"/>
                </a:solidFill>
                <a:latin typeface="Calibri" pitchFamily="34" charset="0"/>
                <a:ea typeface="Calibri" pitchFamily="34" charset="-122"/>
                <a:cs typeface="Calibri" pitchFamily="34" charset="-120"/>
              </a:rPr>
              <a:t>Autonomy Pathway</a:t>
            </a:r>
            <a:endParaRPr lang="en-US" sz="1300" dirty="0"/>
          </a:p>
        </p:txBody>
      </p:sp>
      <p:sp>
        <p:nvSpPr>
          <p:cNvPr id="19" name="Text 16"/>
          <p:cNvSpPr/>
          <p:nvPr/>
        </p:nvSpPr>
        <p:spPr>
          <a:xfrm>
            <a:off x="8275320" y="4654296"/>
            <a:ext cx="3154680" cy="457200"/>
          </a:xfrm>
          <a:prstGeom prst="rect">
            <a:avLst/>
          </a:prstGeom>
          <a:noFill/>
          <a:ln/>
        </p:spPr>
        <p:txBody>
          <a:bodyPr wrap="square" rtlCol="0" anchor="ctr"/>
          <a:lstStyle/>
          <a:p>
            <a:pPr indent="0" marL="0">
              <a:lnSpc>
                <a:spcPts val="1400"/>
              </a:lnSpc>
              <a:buNone/>
            </a:pPr>
            <a:r>
              <a:rPr lang="en-US" sz="1100" dirty="0">
                <a:solidFill>
                  <a:srgbClr val="5B6673"/>
                </a:solidFill>
                <a:latin typeface="Calibri" pitchFamily="34" charset="0"/>
                <a:ea typeface="Calibri" pitchFamily="34" charset="-122"/>
                <a:cs typeface="Calibri" pitchFamily="34" charset="-120"/>
              </a:rPr>
              <a:t>Foundation for semi-autonomous surgical assistance</a:t>
            </a:r>
            <a:endParaRPr lang="en-US" sz="1100" dirty="0"/>
          </a:p>
        </p:txBody>
      </p:sp>
      <p:sp>
        <p:nvSpPr>
          <p:cNvPr id="20" name="Shape 17"/>
          <p:cNvSpPr/>
          <p:nvPr/>
        </p:nvSpPr>
        <p:spPr>
          <a:xfrm>
            <a:off x="8001000" y="5367528"/>
            <a:ext cx="128016" cy="128016"/>
          </a:xfrm>
          <a:prstGeom prst="ellipse">
            <a:avLst/>
          </a:prstGeom>
          <a:solidFill>
            <a:srgbClr val="F2A65A"/>
          </a:solidFill>
          <a:ln/>
        </p:spPr>
      </p:sp>
      <p:sp>
        <p:nvSpPr>
          <p:cNvPr id="21" name="Text 18"/>
          <p:cNvSpPr/>
          <p:nvPr/>
        </p:nvSpPr>
        <p:spPr>
          <a:xfrm>
            <a:off x="8275320" y="5239512"/>
            <a:ext cx="3154680" cy="274320"/>
          </a:xfrm>
          <a:prstGeom prst="rect">
            <a:avLst/>
          </a:prstGeom>
          <a:noFill/>
          <a:ln/>
        </p:spPr>
        <p:txBody>
          <a:bodyPr wrap="square" rtlCol="0" anchor="ctr"/>
          <a:lstStyle/>
          <a:p>
            <a:pPr indent="0" marL="0">
              <a:buNone/>
            </a:pPr>
            <a:r>
              <a:rPr lang="en-US" sz="1300" b="1" dirty="0">
                <a:solidFill>
                  <a:srgbClr val="0B3D62"/>
                </a:solidFill>
                <a:latin typeface="Calibri" pitchFamily="34" charset="0"/>
                <a:ea typeface="Calibri" pitchFamily="34" charset="-122"/>
                <a:cs typeface="Calibri" pitchFamily="34" charset="-120"/>
              </a:rPr>
              <a:t>Safety</a:t>
            </a:r>
            <a:endParaRPr lang="en-US" sz="1300" dirty="0"/>
          </a:p>
        </p:txBody>
      </p:sp>
      <p:sp>
        <p:nvSpPr>
          <p:cNvPr id="22" name="Text 19"/>
          <p:cNvSpPr/>
          <p:nvPr/>
        </p:nvSpPr>
        <p:spPr>
          <a:xfrm>
            <a:off x="8275320" y="5495544"/>
            <a:ext cx="3154680" cy="457200"/>
          </a:xfrm>
          <a:prstGeom prst="rect">
            <a:avLst/>
          </a:prstGeom>
          <a:noFill/>
          <a:ln/>
        </p:spPr>
        <p:txBody>
          <a:bodyPr wrap="square" rtlCol="0" anchor="ctr"/>
          <a:lstStyle/>
          <a:p>
            <a:pPr indent="0" marL="0">
              <a:lnSpc>
                <a:spcPts val="1400"/>
              </a:lnSpc>
              <a:buNone/>
            </a:pPr>
            <a:r>
              <a:rPr lang="en-US" sz="1100" dirty="0">
                <a:solidFill>
                  <a:srgbClr val="5B6673"/>
                </a:solidFill>
                <a:latin typeface="Calibri" pitchFamily="34" charset="0"/>
                <a:ea typeface="Calibri" pitchFamily="34" charset="-122"/>
                <a:cs typeface="Calibri" pitchFamily="34" charset="-120"/>
              </a:rPr>
              <a:t>Real-time perception enables collision-aware motion control</a:t>
            </a:r>
            <a:endParaRPr lang="en-US" sz="1100" dirty="0"/>
          </a:p>
        </p:txBody>
      </p:sp>
      <p:sp>
        <p:nvSpPr>
          <p:cNvPr id="23" name="Text 20"/>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24" name="Text 21"/>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System Architecture</a:t>
            </a:r>
            <a:endParaRPr lang="en-US" sz="3000" dirty="0"/>
          </a:p>
        </p:txBody>
      </p:sp>
      <p:sp>
        <p:nvSpPr>
          <p:cNvPr id="4" name="Text 2"/>
          <p:cNvSpPr/>
          <p:nvPr/>
        </p:nvSpPr>
        <p:spPr>
          <a:xfrm>
            <a:off x="640080" y="1353312"/>
            <a:ext cx="9144000" cy="365760"/>
          </a:xfrm>
          <a:prstGeom prst="rect">
            <a:avLst/>
          </a:prstGeom>
          <a:noFill/>
          <a:ln/>
        </p:spPr>
        <p:txBody>
          <a:bodyPr wrap="square" rtlCol="0" anchor="ctr"/>
          <a:lstStyle/>
          <a:p>
            <a:pPr indent="0" marL="0">
              <a:buNone/>
            </a:pPr>
            <a:r>
              <a:rPr lang="en-US" sz="1300" i="1" dirty="0">
                <a:solidFill>
                  <a:srgbClr val="5B6673"/>
                </a:solidFill>
                <a:latin typeface="Calibri" pitchFamily="34" charset="0"/>
                <a:ea typeface="Calibri" pitchFamily="34" charset="-122"/>
                <a:cs typeface="Calibri" pitchFamily="34" charset="-120"/>
              </a:rPr>
              <a:t>From raw endoscopic video to closed-loop robotic control</a:t>
            </a:r>
            <a:endParaRPr lang="en-US" sz="1300" dirty="0"/>
          </a:p>
        </p:txBody>
      </p:sp>
      <p:sp>
        <p:nvSpPr>
          <p:cNvPr id="5" name="Shape 3"/>
          <p:cNvSpPr/>
          <p:nvPr/>
        </p:nvSpPr>
        <p:spPr>
          <a:xfrm>
            <a:off x="640080" y="2331720"/>
            <a:ext cx="1874520" cy="2331720"/>
          </a:xfrm>
          <a:prstGeom prst="roundRect">
            <a:avLst>
              <a:gd name="adj" fmla="val 4878"/>
            </a:avLst>
          </a:prstGeom>
          <a:solidFill>
            <a:srgbClr val="F6F8FA"/>
          </a:solidFill>
          <a:ln w="12700">
            <a:solidFill>
              <a:srgbClr val="E3E8EE"/>
            </a:solidFill>
            <a:prstDash val="solid"/>
          </a:ln>
        </p:spPr>
      </p:sp>
      <p:sp>
        <p:nvSpPr>
          <p:cNvPr id="6" name="Shape 4"/>
          <p:cNvSpPr/>
          <p:nvPr/>
        </p:nvSpPr>
        <p:spPr>
          <a:xfrm>
            <a:off x="1293876" y="2587752"/>
            <a:ext cx="566928" cy="566928"/>
          </a:xfrm>
          <a:prstGeom prst="ellipse">
            <a:avLst/>
          </a:prstGeom>
          <a:solidFill>
            <a:srgbClr val="0B3D62"/>
          </a:solidFill>
          <a:ln/>
        </p:spPr>
      </p:sp>
      <p:pic>
        <p:nvPicPr>
          <p:cNvPr id="7" name="Image 0" descr="icons/database_white.png">    </p:cNvPr>
          <p:cNvPicPr>
            <a:picLocks noChangeAspect="1"/>
          </p:cNvPicPr>
          <p:nvPr/>
        </p:nvPicPr>
        <p:blipFill>
          <a:blip r:embed="rId1"/>
          <a:stretch>
            <a:fillRect/>
          </a:stretch>
        </p:blipFill>
        <p:spPr>
          <a:xfrm>
            <a:off x="1367577" y="2661453"/>
            <a:ext cx="419527" cy="419527"/>
          </a:xfrm>
          <a:prstGeom prst="rect">
            <a:avLst/>
          </a:prstGeom>
        </p:spPr>
      </p:pic>
      <p:sp>
        <p:nvSpPr>
          <p:cNvPr id="8" name="Text 5"/>
          <p:cNvSpPr/>
          <p:nvPr/>
        </p:nvSpPr>
        <p:spPr>
          <a:xfrm>
            <a:off x="640080" y="3291840"/>
            <a:ext cx="1874520" cy="32004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Data</a:t>
            </a:r>
            <a:endParaRPr lang="en-US" sz="1300" dirty="0"/>
          </a:p>
        </p:txBody>
      </p:sp>
      <p:sp>
        <p:nvSpPr>
          <p:cNvPr id="9" name="Text 6"/>
          <p:cNvSpPr/>
          <p:nvPr/>
        </p:nvSpPr>
        <p:spPr>
          <a:xfrm>
            <a:off x="749808" y="3630168"/>
            <a:ext cx="1655064" cy="914400"/>
          </a:xfrm>
          <a:prstGeom prst="rect">
            <a:avLst/>
          </a:prstGeom>
          <a:noFill/>
          <a:ln/>
        </p:spPr>
        <p:txBody>
          <a:bodyPr wrap="square" rtlCol="0" anchor="ctr"/>
          <a:lstStyle/>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EndoVis2017</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surgical video &amp;</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segmentation masks</a:t>
            </a:r>
            <a:endParaRPr lang="en-US" sz="950" dirty="0"/>
          </a:p>
        </p:txBody>
      </p:sp>
      <p:sp>
        <p:nvSpPr>
          <p:cNvPr id="10" name="Text 7"/>
          <p:cNvSpPr/>
          <p:nvPr/>
        </p:nvSpPr>
        <p:spPr>
          <a:xfrm>
            <a:off x="2496312" y="3200400"/>
            <a:ext cx="292608" cy="457200"/>
          </a:xfrm>
          <a:prstGeom prst="rect">
            <a:avLst/>
          </a:prstGeom>
          <a:noFill/>
          <a:ln/>
        </p:spPr>
        <p:txBody>
          <a:bodyPr wrap="square" rtlCol="0" anchor="ctr"/>
          <a:lstStyle/>
          <a:p>
            <a:pPr algn="ctr" indent="0" marL="0">
              <a:buNone/>
            </a:pPr>
            <a:r>
              <a:rPr lang="en-US" sz="2000" b="1" dirty="0">
                <a:solidFill>
                  <a:srgbClr val="1C8FA0"/>
                </a:solidFill>
              </a:rPr>
              <a:t>→</a:t>
            </a:r>
            <a:endParaRPr lang="en-US" sz="2000" dirty="0"/>
          </a:p>
        </p:txBody>
      </p:sp>
      <p:sp>
        <p:nvSpPr>
          <p:cNvPr id="11" name="Shape 8"/>
          <p:cNvSpPr/>
          <p:nvPr/>
        </p:nvSpPr>
        <p:spPr>
          <a:xfrm>
            <a:off x="2770632" y="2331720"/>
            <a:ext cx="1874520" cy="2331720"/>
          </a:xfrm>
          <a:prstGeom prst="roundRect">
            <a:avLst>
              <a:gd name="adj" fmla="val 4878"/>
            </a:avLst>
          </a:prstGeom>
          <a:solidFill>
            <a:srgbClr val="F6F8FA"/>
          </a:solidFill>
          <a:ln w="12700">
            <a:solidFill>
              <a:srgbClr val="E3E8EE"/>
            </a:solidFill>
            <a:prstDash val="solid"/>
          </a:ln>
        </p:spPr>
      </p:sp>
      <p:sp>
        <p:nvSpPr>
          <p:cNvPr id="12" name="Shape 9"/>
          <p:cNvSpPr/>
          <p:nvPr/>
        </p:nvSpPr>
        <p:spPr>
          <a:xfrm>
            <a:off x="3424428" y="2587752"/>
            <a:ext cx="566928" cy="566928"/>
          </a:xfrm>
          <a:prstGeom prst="ellipse">
            <a:avLst/>
          </a:prstGeom>
          <a:solidFill>
            <a:srgbClr val="0B3D62"/>
          </a:solidFill>
          <a:ln/>
        </p:spPr>
      </p:sp>
      <p:pic>
        <p:nvPicPr>
          <p:cNvPr id="13" name="Image 1" descr="icons/brain_white.png">    </p:cNvPr>
          <p:cNvPicPr>
            <a:picLocks noChangeAspect="1"/>
          </p:cNvPicPr>
          <p:nvPr/>
        </p:nvPicPr>
        <p:blipFill>
          <a:blip r:embed="rId2"/>
          <a:stretch>
            <a:fillRect/>
          </a:stretch>
        </p:blipFill>
        <p:spPr>
          <a:xfrm>
            <a:off x="3498129" y="2661453"/>
            <a:ext cx="419527" cy="419527"/>
          </a:xfrm>
          <a:prstGeom prst="rect">
            <a:avLst/>
          </a:prstGeom>
        </p:spPr>
      </p:pic>
      <p:sp>
        <p:nvSpPr>
          <p:cNvPr id="14" name="Text 10"/>
          <p:cNvSpPr/>
          <p:nvPr/>
        </p:nvSpPr>
        <p:spPr>
          <a:xfrm>
            <a:off x="2770632" y="3291840"/>
            <a:ext cx="1874520" cy="32004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Deep Learning</a:t>
            </a:r>
            <a:endParaRPr lang="en-US" sz="1300" dirty="0"/>
          </a:p>
        </p:txBody>
      </p:sp>
      <p:sp>
        <p:nvSpPr>
          <p:cNvPr id="15" name="Text 11"/>
          <p:cNvSpPr/>
          <p:nvPr/>
        </p:nvSpPr>
        <p:spPr>
          <a:xfrm>
            <a:off x="2880360" y="3630168"/>
            <a:ext cx="1655064" cy="914400"/>
          </a:xfrm>
          <a:prstGeom prst="rect">
            <a:avLst/>
          </a:prstGeom>
          <a:noFill/>
          <a:ln/>
        </p:spPr>
        <p:txBody>
          <a:bodyPr wrap="square" rtlCol="0" anchor="ctr"/>
          <a:lstStyle/>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U-Net segmentation +</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YOLO instrument</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detection</a:t>
            </a:r>
            <a:endParaRPr lang="en-US" sz="950" dirty="0"/>
          </a:p>
        </p:txBody>
      </p:sp>
      <p:sp>
        <p:nvSpPr>
          <p:cNvPr id="16" name="Text 12"/>
          <p:cNvSpPr/>
          <p:nvPr/>
        </p:nvSpPr>
        <p:spPr>
          <a:xfrm>
            <a:off x="4626864" y="3200400"/>
            <a:ext cx="292608" cy="457200"/>
          </a:xfrm>
          <a:prstGeom prst="rect">
            <a:avLst/>
          </a:prstGeom>
          <a:noFill/>
          <a:ln/>
        </p:spPr>
        <p:txBody>
          <a:bodyPr wrap="square" rtlCol="0" anchor="ctr"/>
          <a:lstStyle/>
          <a:p>
            <a:pPr algn="ctr" indent="0" marL="0">
              <a:buNone/>
            </a:pPr>
            <a:r>
              <a:rPr lang="en-US" sz="2000" b="1" dirty="0">
                <a:solidFill>
                  <a:srgbClr val="1C8FA0"/>
                </a:solidFill>
              </a:rPr>
              <a:t>→</a:t>
            </a:r>
            <a:endParaRPr lang="en-US" sz="2000" dirty="0"/>
          </a:p>
        </p:txBody>
      </p:sp>
      <p:sp>
        <p:nvSpPr>
          <p:cNvPr id="17" name="Shape 13"/>
          <p:cNvSpPr/>
          <p:nvPr/>
        </p:nvSpPr>
        <p:spPr>
          <a:xfrm>
            <a:off x="4901184" y="2331720"/>
            <a:ext cx="1874520" cy="2331720"/>
          </a:xfrm>
          <a:prstGeom prst="roundRect">
            <a:avLst>
              <a:gd name="adj" fmla="val 4878"/>
            </a:avLst>
          </a:prstGeom>
          <a:solidFill>
            <a:srgbClr val="0B3D62"/>
          </a:solidFill>
          <a:ln w="12700">
            <a:solidFill>
              <a:srgbClr val="0B3D62"/>
            </a:solidFill>
            <a:prstDash val="solid"/>
          </a:ln>
        </p:spPr>
      </p:sp>
      <p:sp>
        <p:nvSpPr>
          <p:cNvPr id="18" name="Shape 14"/>
          <p:cNvSpPr/>
          <p:nvPr/>
        </p:nvSpPr>
        <p:spPr>
          <a:xfrm>
            <a:off x="5554980" y="2587752"/>
            <a:ext cx="566928" cy="566928"/>
          </a:xfrm>
          <a:prstGeom prst="ellipse">
            <a:avLst/>
          </a:prstGeom>
          <a:solidFill>
            <a:srgbClr val="F2A65A"/>
          </a:solidFill>
          <a:ln/>
        </p:spPr>
      </p:sp>
      <p:pic>
        <p:nvPicPr>
          <p:cNvPr id="19" name="Image 2" descr="icons/network.png">    </p:cNvPr>
          <p:cNvPicPr>
            <a:picLocks noChangeAspect="1"/>
          </p:cNvPicPr>
          <p:nvPr/>
        </p:nvPicPr>
        <p:blipFill>
          <a:blip r:embed="rId3"/>
          <a:stretch>
            <a:fillRect/>
          </a:stretch>
        </p:blipFill>
        <p:spPr>
          <a:xfrm>
            <a:off x="5628681" y="2661453"/>
            <a:ext cx="419527" cy="419527"/>
          </a:xfrm>
          <a:prstGeom prst="rect">
            <a:avLst/>
          </a:prstGeom>
        </p:spPr>
      </p:pic>
      <p:sp>
        <p:nvSpPr>
          <p:cNvPr id="20" name="Text 15"/>
          <p:cNvSpPr/>
          <p:nvPr/>
        </p:nvSpPr>
        <p:spPr>
          <a:xfrm>
            <a:off x="4901184" y="3291840"/>
            <a:ext cx="187452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ROS 2 Node</a:t>
            </a:r>
            <a:endParaRPr lang="en-US" sz="1300" dirty="0"/>
          </a:p>
        </p:txBody>
      </p:sp>
      <p:sp>
        <p:nvSpPr>
          <p:cNvPr id="21" name="Text 16"/>
          <p:cNvSpPr/>
          <p:nvPr/>
        </p:nvSpPr>
        <p:spPr>
          <a:xfrm>
            <a:off x="5010912" y="3630168"/>
            <a:ext cx="1655064" cy="914400"/>
          </a:xfrm>
          <a:prstGeom prst="rect">
            <a:avLst/>
          </a:prstGeom>
          <a:noFill/>
          <a:ln/>
        </p:spPr>
        <p:txBody>
          <a:bodyPr wrap="square" rtlCol="0" anchor="ctr"/>
          <a:lstStyle/>
          <a:p>
            <a:pPr algn="ctr" indent="0" marL="0">
              <a:lnSpc>
                <a:spcPts val="1200"/>
              </a:lnSpc>
              <a:buNone/>
            </a:pPr>
            <a:r>
              <a:rPr lang="en-US" sz="950" dirty="0">
                <a:solidFill>
                  <a:srgbClr val="D7E3EC"/>
                </a:solidFill>
                <a:latin typeface="Calibri" pitchFamily="34" charset="0"/>
                <a:ea typeface="Calibri" pitchFamily="34" charset="-122"/>
                <a:cs typeface="Calibri" pitchFamily="34" charset="-120"/>
              </a:rPr>
              <a:t>Publishes inference</a:t>
            </a:r>
            <a:endParaRPr lang="en-US" sz="950" dirty="0"/>
          </a:p>
          <a:p>
            <a:pPr algn="ctr" indent="0" marL="0">
              <a:lnSpc>
                <a:spcPts val="1200"/>
              </a:lnSpc>
              <a:buNone/>
            </a:pPr>
            <a:r>
              <a:rPr lang="en-US" sz="950" dirty="0">
                <a:solidFill>
                  <a:srgbClr val="D7E3EC"/>
                </a:solidFill>
                <a:latin typeface="Calibri" pitchFamily="34" charset="0"/>
                <a:ea typeface="Calibri" pitchFamily="34" charset="-122"/>
                <a:cs typeface="Calibri" pitchFamily="34" charset="-120"/>
              </a:rPr>
              <a:t>results on</a:t>
            </a:r>
            <a:endParaRPr lang="en-US" sz="950" dirty="0"/>
          </a:p>
          <a:p>
            <a:pPr algn="ctr" indent="0" marL="0">
              <a:lnSpc>
                <a:spcPts val="1200"/>
              </a:lnSpc>
              <a:buNone/>
            </a:pPr>
            <a:r>
              <a:rPr lang="en-US" sz="950" dirty="0">
                <a:solidFill>
                  <a:srgbClr val="D7E3EC"/>
                </a:solidFill>
                <a:latin typeface="Calibri" pitchFamily="34" charset="0"/>
                <a:ea typeface="Calibri" pitchFamily="34" charset="-122"/>
                <a:cs typeface="Calibri" pitchFamily="34" charset="-120"/>
              </a:rPr>
              <a:t>dl_project_status</a:t>
            </a:r>
            <a:endParaRPr lang="en-US" sz="950" dirty="0"/>
          </a:p>
        </p:txBody>
      </p:sp>
      <p:sp>
        <p:nvSpPr>
          <p:cNvPr id="22" name="Text 17"/>
          <p:cNvSpPr/>
          <p:nvPr/>
        </p:nvSpPr>
        <p:spPr>
          <a:xfrm>
            <a:off x="6757416" y="3200400"/>
            <a:ext cx="292608" cy="457200"/>
          </a:xfrm>
          <a:prstGeom prst="rect">
            <a:avLst/>
          </a:prstGeom>
          <a:noFill/>
          <a:ln/>
        </p:spPr>
        <p:txBody>
          <a:bodyPr wrap="square" rtlCol="0" anchor="ctr"/>
          <a:lstStyle/>
          <a:p>
            <a:pPr algn="ctr" indent="0" marL="0">
              <a:buNone/>
            </a:pPr>
            <a:r>
              <a:rPr lang="en-US" sz="2000" b="1" dirty="0">
                <a:solidFill>
                  <a:srgbClr val="1C8FA0"/>
                </a:solidFill>
              </a:rPr>
              <a:t>→</a:t>
            </a:r>
            <a:endParaRPr lang="en-US" sz="2000" dirty="0"/>
          </a:p>
        </p:txBody>
      </p:sp>
      <p:sp>
        <p:nvSpPr>
          <p:cNvPr id="23" name="Shape 18"/>
          <p:cNvSpPr/>
          <p:nvPr/>
        </p:nvSpPr>
        <p:spPr>
          <a:xfrm>
            <a:off x="7031736" y="2331720"/>
            <a:ext cx="1874520" cy="2331720"/>
          </a:xfrm>
          <a:prstGeom prst="roundRect">
            <a:avLst>
              <a:gd name="adj" fmla="val 4878"/>
            </a:avLst>
          </a:prstGeom>
          <a:solidFill>
            <a:srgbClr val="F6F8FA"/>
          </a:solidFill>
          <a:ln w="12700">
            <a:solidFill>
              <a:srgbClr val="E3E8EE"/>
            </a:solidFill>
            <a:prstDash val="solid"/>
          </a:ln>
        </p:spPr>
      </p:sp>
      <p:sp>
        <p:nvSpPr>
          <p:cNvPr id="24" name="Shape 19"/>
          <p:cNvSpPr/>
          <p:nvPr/>
        </p:nvSpPr>
        <p:spPr>
          <a:xfrm>
            <a:off x="7685532" y="2587752"/>
            <a:ext cx="566928" cy="566928"/>
          </a:xfrm>
          <a:prstGeom prst="ellipse">
            <a:avLst/>
          </a:prstGeom>
          <a:solidFill>
            <a:srgbClr val="0B3D62"/>
          </a:solidFill>
          <a:ln/>
        </p:spPr>
      </p:sp>
      <p:pic>
        <p:nvPicPr>
          <p:cNvPr id="25" name="Image 3" descr="icons/cubes_white.png">    </p:cNvPr>
          <p:cNvPicPr>
            <a:picLocks noChangeAspect="1"/>
          </p:cNvPicPr>
          <p:nvPr/>
        </p:nvPicPr>
        <p:blipFill>
          <a:blip r:embed="rId4"/>
          <a:stretch>
            <a:fillRect/>
          </a:stretch>
        </p:blipFill>
        <p:spPr>
          <a:xfrm>
            <a:off x="7759233" y="2661453"/>
            <a:ext cx="419527" cy="419527"/>
          </a:xfrm>
          <a:prstGeom prst="rect">
            <a:avLst/>
          </a:prstGeom>
        </p:spPr>
      </p:pic>
      <p:sp>
        <p:nvSpPr>
          <p:cNvPr id="26" name="Text 20"/>
          <p:cNvSpPr/>
          <p:nvPr/>
        </p:nvSpPr>
        <p:spPr>
          <a:xfrm>
            <a:off x="7031736" y="3291840"/>
            <a:ext cx="1874520" cy="32004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Gazebo Sim</a:t>
            </a:r>
            <a:endParaRPr lang="en-US" sz="1300" dirty="0"/>
          </a:p>
        </p:txBody>
      </p:sp>
      <p:sp>
        <p:nvSpPr>
          <p:cNvPr id="27" name="Text 21"/>
          <p:cNvSpPr/>
          <p:nvPr/>
        </p:nvSpPr>
        <p:spPr>
          <a:xfrm>
            <a:off x="7141464" y="3630168"/>
            <a:ext cx="1655064" cy="914400"/>
          </a:xfrm>
          <a:prstGeom prst="rect">
            <a:avLst/>
          </a:prstGeom>
          <a:noFill/>
          <a:ln/>
        </p:spPr>
        <p:txBody>
          <a:bodyPr wrap="square" rtlCol="0" anchor="ctr"/>
          <a:lstStyle/>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Virtual surgical</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environment for</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safe testing</a:t>
            </a:r>
            <a:endParaRPr lang="en-US" sz="950" dirty="0"/>
          </a:p>
        </p:txBody>
      </p:sp>
      <p:sp>
        <p:nvSpPr>
          <p:cNvPr id="28" name="Text 22"/>
          <p:cNvSpPr/>
          <p:nvPr/>
        </p:nvSpPr>
        <p:spPr>
          <a:xfrm>
            <a:off x="8887968" y="3200400"/>
            <a:ext cx="292608" cy="457200"/>
          </a:xfrm>
          <a:prstGeom prst="rect">
            <a:avLst/>
          </a:prstGeom>
          <a:noFill/>
          <a:ln/>
        </p:spPr>
        <p:txBody>
          <a:bodyPr wrap="square" rtlCol="0" anchor="ctr"/>
          <a:lstStyle/>
          <a:p>
            <a:pPr algn="ctr" indent="0" marL="0">
              <a:buNone/>
            </a:pPr>
            <a:r>
              <a:rPr lang="en-US" sz="2000" b="1" dirty="0">
                <a:solidFill>
                  <a:srgbClr val="1C8FA0"/>
                </a:solidFill>
              </a:rPr>
              <a:t>→</a:t>
            </a:r>
            <a:endParaRPr lang="en-US" sz="2000" dirty="0"/>
          </a:p>
        </p:txBody>
      </p:sp>
      <p:sp>
        <p:nvSpPr>
          <p:cNvPr id="29" name="Shape 23"/>
          <p:cNvSpPr/>
          <p:nvPr/>
        </p:nvSpPr>
        <p:spPr>
          <a:xfrm>
            <a:off x="9162288" y="2331720"/>
            <a:ext cx="1874520" cy="2331720"/>
          </a:xfrm>
          <a:prstGeom prst="roundRect">
            <a:avLst>
              <a:gd name="adj" fmla="val 4878"/>
            </a:avLst>
          </a:prstGeom>
          <a:solidFill>
            <a:srgbClr val="F6F8FA"/>
          </a:solidFill>
          <a:ln w="12700">
            <a:solidFill>
              <a:srgbClr val="E3E8EE"/>
            </a:solidFill>
            <a:prstDash val="solid"/>
          </a:ln>
        </p:spPr>
      </p:sp>
      <p:sp>
        <p:nvSpPr>
          <p:cNvPr id="30" name="Shape 24"/>
          <p:cNvSpPr/>
          <p:nvPr/>
        </p:nvSpPr>
        <p:spPr>
          <a:xfrm>
            <a:off x="9816084" y="2587752"/>
            <a:ext cx="566928" cy="566928"/>
          </a:xfrm>
          <a:prstGeom prst="ellipse">
            <a:avLst/>
          </a:prstGeom>
          <a:solidFill>
            <a:srgbClr val="0B3D62"/>
          </a:solidFill>
          <a:ln/>
        </p:spPr>
      </p:sp>
      <p:pic>
        <p:nvPicPr>
          <p:cNvPr id="31" name="Image 4" descr="icons/robot_white.png">    </p:cNvPr>
          <p:cNvPicPr>
            <a:picLocks noChangeAspect="1"/>
          </p:cNvPicPr>
          <p:nvPr/>
        </p:nvPicPr>
        <p:blipFill>
          <a:blip r:embed="rId5"/>
          <a:stretch>
            <a:fillRect/>
          </a:stretch>
        </p:blipFill>
        <p:spPr>
          <a:xfrm>
            <a:off x="9889785" y="2661453"/>
            <a:ext cx="419527" cy="419527"/>
          </a:xfrm>
          <a:prstGeom prst="rect">
            <a:avLst/>
          </a:prstGeom>
        </p:spPr>
      </p:pic>
      <p:sp>
        <p:nvSpPr>
          <p:cNvPr id="32" name="Text 25"/>
          <p:cNvSpPr/>
          <p:nvPr/>
        </p:nvSpPr>
        <p:spPr>
          <a:xfrm>
            <a:off x="9162288" y="3291840"/>
            <a:ext cx="1874520" cy="32004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Robot Control</a:t>
            </a:r>
            <a:endParaRPr lang="en-US" sz="1300" dirty="0"/>
          </a:p>
        </p:txBody>
      </p:sp>
      <p:sp>
        <p:nvSpPr>
          <p:cNvPr id="33" name="Text 26"/>
          <p:cNvSpPr/>
          <p:nvPr/>
        </p:nvSpPr>
        <p:spPr>
          <a:xfrm>
            <a:off x="9272016" y="3630168"/>
            <a:ext cx="1655064" cy="914400"/>
          </a:xfrm>
          <a:prstGeom prst="rect">
            <a:avLst/>
          </a:prstGeom>
          <a:noFill/>
          <a:ln/>
        </p:spPr>
        <p:txBody>
          <a:bodyPr wrap="square" rtlCol="0" anchor="ctr"/>
          <a:lstStyle/>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Motion planning &amp;</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instrument-aware</a:t>
            </a:r>
            <a:endParaRPr lang="en-US" sz="950" dirty="0"/>
          </a:p>
          <a:p>
            <a:pPr algn="ctr" indent="0" marL="0">
              <a:lnSpc>
                <a:spcPts val="1200"/>
              </a:lnSpc>
              <a:buNone/>
            </a:pPr>
            <a:r>
              <a:rPr lang="en-US" sz="950" dirty="0">
                <a:solidFill>
                  <a:srgbClr val="5B6673"/>
                </a:solidFill>
                <a:latin typeface="Calibri" pitchFamily="34" charset="0"/>
                <a:ea typeface="Calibri" pitchFamily="34" charset="-122"/>
                <a:cs typeface="Calibri" pitchFamily="34" charset="-120"/>
              </a:rPr>
              <a:t>actuation</a:t>
            </a:r>
            <a:endParaRPr lang="en-US" sz="950" dirty="0"/>
          </a:p>
        </p:txBody>
      </p:sp>
      <p:sp>
        <p:nvSpPr>
          <p:cNvPr id="34" name="Shape 27"/>
          <p:cNvSpPr/>
          <p:nvPr/>
        </p:nvSpPr>
        <p:spPr>
          <a:xfrm flipV="1">
            <a:off x="1554480" y="4800600"/>
            <a:ext cx="9052560" cy="502920"/>
          </a:xfrm>
          <a:prstGeom prst="bentConnector3">
            <a:avLst/>
          </a:prstGeom>
          <a:noFill/>
          <a:ln w="25400">
            <a:solidFill>
              <a:srgbClr val="F2A65A"/>
            </a:solidFill>
            <a:prstDash val="dash"/>
            <a:tailEnd type="triangle"/>
          </a:ln>
        </p:spPr>
      </p:sp>
      <p:sp>
        <p:nvSpPr>
          <p:cNvPr id="35" name="Text 28"/>
          <p:cNvSpPr/>
          <p:nvPr/>
        </p:nvSpPr>
        <p:spPr>
          <a:xfrm>
            <a:off x="1554480" y="5257800"/>
            <a:ext cx="9052560" cy="320040"/>
          </a:xfrm>
          <a:prstGeom prst="rect">
            <a:avLst/>
          </a:prstGeom>
          <a:noFill/>
          <a:ln/>
        </p:spPr>
        <p:txBody>
          <a:bodyPr wrap="square" rtlCol="0" anchor="ctr"/>
          <a:lstStyle/>
          <a:p>
            <a:pPr algn="ctr" indent="0" marL="0">
              <a:buNone/>
            </a:pPr>
            <a:r>
              <a:rPr lang="en-US" sz="1100" i="1" dirty="0">
                <a:solidFill>
                  <a:srgbClr val="5B6673"/>
                </a:solidFill>
                <a:latin typeface="Calibri" pitchFamily="34" charset="0"/>
                <a:ea typeface="Calibri" pitchFamily="34" charset="-122"/>
                <a:cs typeface="Calibri" pitchFamily="34" charset="-120"/>
              </a:rPr>
              <a:t>Closed feedback loop — perception continuously informs control</a:t>
            </a:r>
            <a:endParaRPr lang="en-US" sz="1100" dirty="0"/>
          </a:p>
        </p:txBody>
      </p:sp>
      <p:sp>
        <p:nvSpPr>
          <p:cNvPr id="36" name="Text 29"/>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7" name="Text 30"/>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F33"/>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F2A65A"/>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Deep Learning + ROS + Gazebo</a:t>
            </a:r>
            <a:endParaRPr lang="en-US" sz="3000" dirty="0"/>
          </a:p>
        </p:txBody>
      </p:sp>
      <p:sp>
        <p:nvSpPr>
          <p:cNvPr id="4" name="Text 2"/>
          <p:cNvSpPr/>
          <p:nvPr/>
        </p:nvSpPr>
        <p:spPr>
          <a:xfrm>
            <a:off x="640080" y="1353312"/>
            <a:ext cx="9144000" cy="365760"/>
          </a:xfrm>
          <a:prstGeom prst="rect">
            <a:avLst/>
          </a:prstGeom>
          <a:noFill/>
          <a:ln/>
        </p:spPr>
        <p:txBody>
          <a:bodyPr wrap="square" rtlCol="0" anchor="ctr"/>
          <a:lstStyle/>
          <a:p>
            <a:pPr indent="0" marL="0">
              <a:buNone/>
            </a:pPr>
            <a:r>
              <a:rPr lang="en-US" sz="1300" i="1" dirty="0">
                <a:solidFill>
                  <a:srgbClr val="9FB4C7"/>
                </a:solidFill>
                <a:latin typeface="Calibri" pitchFamily="34" charset="0"/>
                <a:ea typeface="Calibri" pitchFamily="34" charset="-122"/>
                <a:cs typeface="Calibri" pitchFamily="34" charset="-120"/>
              </a:rPr>
              <a:t>Three technologies, one integrated surgical intelligence pipeline</a:t>
            </a:r>
            <a:endParaRPr lang="en-US" sz="1300" dirty="0"/>
          </a:p>
        </p:txBody>
      </p:sp>
      <p:sp>
        <p:nvSpPr>
          <p:cNvPr id="5" name="Shape 3"/>
          <p:cNvSpPr/>
          <p:nvPr/>
        </p:nvSpPr>
        <p:spPr>
          <a:xfrm>
            <a:off x="640080" y="1965960"/>
            <a:ext cx="3429000" cy="4206240"/>
          </a:xfrm>
          <a:prstGeom prst="roundRect">
            <a:avLst>
              <a:gd name="adj" fmla="val 3200"/>
            </a:avLst>
          </a:prstGeom>
          <a:solidFill>
            <a:srgbClr val="0B3D62"/>
          </a:solidFill>
          <a:ln/>
        </p:spPr>
      </p:sp>
      <p:sp>
        <p:nvSpPr>
          <p:cNvPr id="6" name="Shape 4"/>
          <p:cNvSpPr/>
          <p:nvPr/>
        </p:nvSpPr>
        <p:spPr>
          <a:xfrm>
            <a:off x="960120" y="2286000"/>
            <a:ext cx="621792" cy="621792"/>
          </a:xfrm>
          <a:prstGeom prst="ellipse">
            <a:avLst/>
          </a:prstGeom>
          <a:solidFill>
            <a:srgbClr val="1C8FA0"/>
          </a:solidFill>
          <a:ln/>
        </p:spPr>
      </p:sp>
      <p:pic>
        <p:nvPicPr>
          <p:cNvPr id="7" name="Image 0" descr="icons/brain_white.png">    </p:cNvPr>
          <p:cNvPicPr>
            <a:picLocks noChangeAspect="1"/>
          </p:cNvPicPr>
          <p:nvPr/>
        </p:nvPicPr>
        <p:blipFill>
          <a:blip r:embed="rId1"/>
          <a:stretch>
            <a:fillRect/>
          </a:stretch>
        </p:blipFill>
        <p:spPr>
          <a:xfrm>
            <a:off x="1040953" y="2366833"/>
            <a:ext cx="460126" cy="460126"/>
          </a:xfrm>
          <a:prstGeom prst="rect">
            <a:avLst/>
          </a:prstGeom>
        </p:spPr>
      </p:pic>
      <p:sp>
        <p:nvSpPr>
          <p:cNvPr id="8" name="Text 5"/>
          <p:cNvSpPr/>
          <p:nvPr/>
        </p:nvSpPr>
        <p:spPr>
          <a:xfrm>
            <a:off x="960120" y="3063240"/>
            <a:ext cx="278892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Deep Learning</a:t>
            </a:r>
            <a:endParaRPr lang="en-US" sz="1700" dirty="0"/>
          </a:p>
        </p:txBody>
      </p:sp>
      <p:sp>
        <p:nvSpPr>
          <p:cNvPr id="9" name="Text 6"/>
          <p:cNvSpPr/>
          <p:nvPr/>
        </p:nvSpPr>
        <p:spPr>
          <a:xfrm>
            <a:off x="960120" y="3410712"/>
            <a:ext cx="2788920" cy="320040"/>
          </a:xfrm>
          <a:prstGeom prst="rect">
            <a:avLst/>
          </a:prstGeom>
          <a:noFill/>
          <a:ln/>
        </p:spPr>
        <p:txBody>
          <a:bodyPr wrap="square" rtlCol="0" anchor="ctr"/>
          <a:lstStyle/>
          <a:p>
            <a:pPr indent="0" marL="0">
              <a:buNone/>
            </a:pPr>
            <a:r>
              <a:rPr lang="en-US" sz="1100" i="1" dirty="0">
                <a:solidFill>
                  <a:srgbClr val="F2A65A"/>
                </a:solidFill>
                <a:latin typeface="Calibri" pitchFamily="34" charset="0"/>
                <a:ea typeface="Calibri" pitchFamily="34" charset="-122"/>
                <a:cs typeface="Calibri" pitchFamily="34" charset="-120"/>
              </a:rPr>
              <a:t>The Perception Layer</a:t>
            </a:r>
            <a:endParaRPr lang="en-US" sz="1100" dirty="0"/>
          </a:p>
        </p:txBody>
      </p:sp>
      <p:sp>
        <p:nvSpPr>
          <p:cNvPr id="10" name="Shape 7"/>
          <p:cNvSpPr/>
          <p:nvPr/>
        </p:nvSpPr>
        <p:spPr>
          <a:xfrm>
            <a:off x="960120" y="3986784"/>
            <a:ext cx="91440" cy="91440"/>
          </a:xfrm>
          <a:prstGeom prst="ellipse">
            <a:avLst/>
          </a:prstGeom>
          <a:solidFill>
            <a:srgbClr val="1C8FA0"/>
          </a:solidFill>
          <a:ln/>
        </p:spPr>
      </p:sp>
      <p:sp>
        <p:nvSpPr>
          <p:cNvPr id="11" name="Text 8"/>
          <p:cNvSpPr/>
          <p:nvPr/>
        </p:nvSpPr>
        <p:spPr>
          <a:xfrm>
            <a:off x="1170432" y="3858768"/>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U-Net segments tissue &amp; instruments pixel-by-pixel</a:t>
            </a:r>
            <a:endParaRPr lang="en-US" sz="1100" dirty="0"/>
          </a:p>
        </p:txBody>
      </p:sp>
      <p:sp>
        <p:nvSpPr>
          <p:cNvPr id="12" name="Shape 9"/>
          <p:cNvSpPr/>
          <p:nvPr/>
        </p:nvSpPr>
        <p:spPr>
          <a:xfrm>
            <a:off x="960120" y="4700016"/>
            <a:ext cx="91440" cy="91440"/>
          </a:xfrm>
          <a:prstGeom prst="ellipse">
            <a:avLst/>
          </a:prstGeom>
          <a:solidFill>
            <a:srgbClr val="1C8FA0"/>
          </a:solidFill>
          <a:ln/>
        </p:spPr>
      </p:sp>
      <p:sp>
        <p:nvSpPr>
          <p:cNvPr id="13" name="Text 10"/>
          <p:cNvSpPr/>
          <p:nvPr/>
        </p:nvSpPr>
        <p:spPr>
          <a:xfrm>
            <a:off x="1170432" y="4572000"/>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YOLO localizes instruments with bounding boxes</a:t>
            </a:r>
            <a:endParaRPr lang="en-US" sz="1100" dirty="0"/>
          </a:p>
        </p:txBody>
      </p:sp>
      <p:sp>
        <p:nvSpPr>
          <p:cNvPr id="14" name="Shape 11"/>
          <p:cNvSpPr/>
          <p:nvPr/>
        </p:nvSpPr>
        <p:spPr>
          <a:xfrm>
            <a:off x="960120" y="5413248"/>
            <a:ext cx="91440" cy="91440"/>
          </a:xfrm>
          <a:prstGeom prst="ellipse">
            <a:avLst/>
          </a:prstGeom>
          <a:solidFill>
            <a:srgbClr val="1C8FA0"/>
          </a:solidFill>
          <a:ln/>
        </p:spPr>
      </p:sp>
      <p:sp>
        <p:nvSpPr>
          <p:cNvPr id="15" name="Text 12"/>
          <p:cNvSpPr/>
          <p:nvPr/>
        </p:nvSpPr>
        <p:spPr>
          <a:xfrm>
            <a:off x="1170432" y="5285232"/>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Trained on 1,800+ annotated EndoVis2017 frames</a:t>
            </a:r>
            <a:endParaRPr lang="en-US" sz="1100" dirty="0"/>
          </a:p>
        </p:txBody>
      </p:sp>
      <p:sp>
        <p:nvSpPr>
          <p:cNvPr id="16" name="Text 13"/>
          <p:cNvSpPr/>
          <p:nvPr/>
        </p:nvSpPr>
        <p:spPr>
          <a:xfrm>
            <a:off x="4087368" y="3794760"/>
            <a:ext cx="283464" cy="548640"/>
          </a:xfrm>
          <a:prstGeom prst="rect">
            <a:avLst/>
          </a:prstGeom>
          <a:noFill/>
          <a:ln/>
        </p:spPr>
        <p:txBody>
          <a:bodyPr wrap="square" rtlCol="0" anchor="ctr"/>
          <a:lstStyle/>
          <a:p>
            <a:pPr algn="ctr" indent="0" marL="0">
              <a:buNone/>
            </a:pPr>
            <a:r>
              <a:rPr lang="en-US" sz="2600" b="1" dirty="0">
                <a:solidFill>
                  <a:srgbClr val="F2A65A"/>
                </a:solidFill>
              </a:rPr>
              <a:t>+</a:t>
            </a:r>
            <a:endParaRPr lang="en-US" sz="2600" dirty="0"/>
          </a:p>
        </p:txBody>
      </p:sp>
      <p:sp>
        <p:nvSpPr>
          <p:cNvPr id="17" name="Shape 14"/>
          <p:cNvSpPr/>
          <p:nvPr/>
        </p:nvSpPr>
        <p:spPr>
          <a:xfrm>
            <a:off x="4389120" y="1965960"/>
            <a:ext cx="3429000" cy="4206240"/>
          </a:xfrm>
          <a:prstGeom prst="roundRect">
            <a:avLst>
              <a:gd name="adj" fmla="val 3200"/>
            </a:avLst>
          </a:prstGeom>
          <a:solidFill>
            <a:srgbClr val="0B3D62"/>
          </a:solidFill>
          <a:ln/>
        </p:spPr>
      </p:sp>
      <p:sp>
        <p:nvSpPr>
          <p:cNvPr id="18" name="Shape 15"/>
          <p:cNvSpPr/>
          <p:nvPr/>
        </p:nvSpPr>
        <p:spPr>
          <a:xfrm>
            <a:off x="4709160" y="2286000"/>
            <a:ext cx="621792" cy="621792"/>
          </a:xfrm>
          <a:prstGeom prst="ellipse">
            <a:avLst/>
          </a:prstGeom>
          <a:solidFill>
            <a:srgbClr val="1C8FA0"/>
          </a:solidFill>
          <a:ln/>
        </p:spPr>
      </p:sp>
      <p:pic>
        <p:nvPicPr>
          <p:cNvPr id="19" name="Image 1" descr="icons/network_white.png">    </p:cNvPr>
          <p:cNvPicPr>
            <a:picLocks noChangeAspect="1"/>
          </p:cNvPicPr>
          <p:nvPr/>
        </p:nvPicPr>
        <p:blipFill>
          <a:blip r:embed="rId2"/>
          <a:stretch>
            <a:fillRect/>
          </a:stretch>
        </p:blipFill>
        <p:spPr>
          <a:xfrm>
            <a:off x="4789993" y="2366833"/>
            <a:ext cx="460126" cy="460126"/>
          </a:xfrm>
          <a:prstGeom prst="rect">
            <a:avLst/>
          </a:prstGeom>
        </p:spPr>
      </p:pic>
      <p:sp>
        <p:nvSpPr>
          <p:cNvPr id="20" name="Text 16"/>
          <p:cNvSpPr/>
          <p:nvPr/>
        </p:nvSpPr>
        <p:spPr>
          <a:xfrm>
            <a:off x="4709160" y="3063240"/>
            <a:ext cx="278892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ROS 2</a:t>
            </a:r>
            <a:endParaRPr lang="en-US" sz="1700" dirty="0"/>
          </a:p>
        </p:txBody>
      </p:sp>
      <p:sp>
        <p:nvSpPr>
          <p:cNvPr id="21" name="Text 17"/>
          <p:cNvSpPr/>
          <p:nvPr/>
        </p:nvSpPr>
        <p:spPr>
          <a:xfrm>
            <a:off x="4709160" y="3410712"/>
            <a:ext cx="2788920" cy="320040"/>
          </a:xfrm>
          <a:prstGeom prst="rect">
            <a:avLst/>
          </a:prstGeom>
          <a:noFill/>
          <a:ln/>
        </p:spPr>
        <p:txBody>
          <a:bodyPr wrap="square" rtlCol="0" anchor="ctr"/>
          <a:lstStyle/>
          <a:p>
            <a:pPr indent="0" marL="0">
              <a:buNone/>
            </a:pPr>
            <a:r>
              <a:rPr lang="en-US" sz="1100" i="1" dirty="0">
                <a:solidFill>
                  <a:srgbClr val="F2A65A"/>
                </a:solidFill>
                <a:latin typeface="Calibri" pitchFamily="34" charset="0"/>
                <a:ea typeface="Calibri" pitchFamily="34" charset="-122"/>
                <a:cs typeface="Calibri" pitchFamily="34" charset="-120"/>
              </a:rPr>
              <a:t>The Communication Layer</a:t>
            </a:r>
            <a:endParaRPr lang="en-US" sz="1100" dirty="0"/>
          </a:p>
        </p:txBody>
      </p:sp>
      <p:sp>
        <p:nvSpPr>
          <p:cNvPr id="22" name="Shape 18"/>
          <p:cNvSpPr/>
          <p:nvPr/>
        </p:nvSpPr>
        <p:spPr>
          <a:xfrm>
            <a:off x="4709160" y="3986784"/>
            <a:ext cx="91440" cy="91440"/>
          </a:xfrm>
          <a:prstGeom prst="ellipse">
            <a:avLst/>
          </a:prstGeom>
          <a:solidFill>
            <a:srgbClr val="1C8FA0"/>
          </a:solidFill>
          <a:ln/>
        </p:spPr>
      </p:sp>
      <p:sp>
        <p:nvSpPr>
          <p:cNvPr id="23" name="Text 19"/>
          <p:cNvSpPr/>
          <p:nvPr/>
        </p:nvSpPr>
        <p:spPr>
          <a:xfrm>
            <a:off x="4919472" y="3858768"/>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Wraps trained models into a live inference node</a:t>
            </a:r>
            <a:endParaRPr lang="en-US" sz="1100" dirty="0"/>
          </a:p>
        </p:txBody>
      </p:sp>
      <p:sp>
        <p:nvSpPr>
          <p:cNvPr id="24" name="Shape 20"/>
          <p:cNvSpPr/>
          <p:nvPr/>
        </p:nvSpPr>
        <p:spPr>
          <a:xfrm>
            <a:off x="4709160" y="4700016"/>
            <a:ext cx="91440" cy="91440"/>
          </a:xfrm>
          <a:prstGeom prst="ellipse">
            <a:avLst/>
          </a:prstGeom>
          <a:solidFill>
            <a:srgbClr val="1C8FA0"/>
          </a:solidFill>
          <a:ln/>
        </p:spPr>
      </p:sp>
      <p:sp>
        <p:nvSpPr>
          <p:cNvPr id="25" name="Text 21"/>
          <p:cNvSpPr/>
          <p:nvPr/>
        </p:nvSpPr>
        <p:spPr>
          <a:xfrm>
            <a:off x="4919472" y="4572000"/>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Publishes results on standardized topics</a:t>
            </a:r>
            <a:endParaRPr lang="en-US" sz="1100" dirty="0"/>
          </a:p>
        </p:txBody>
      </p:sp>
      <p:sp>
        <p:nvSpPr>
          <p:cNvPr id="26" name="Shape 22"/>
          <p:cNvSpPr/>
          <p:nvPr/>
        </p:nvSpPr>
        <p:spPr>
          <a:xfrm>
            <a:off x="4709160" y="5413248"/>
            <a:ext cx="91440" cy="91440"/>
          </a:xfrm>
          <a:prstGeom prst="ellipse">
            <a:avLst/>
          </a:prstGeom>
          <a:solidFill>
            <a:srgbClr val="1C8FA0"/>
          </a:solidFill>
          <a:ln/>
        </p:spPr>
      </p:sp>
      <p:sp>
        <p:nvSpPr>
          <p:cNvPr id="27" name="Text 23"/>
          <p:cNvSpPr/>
          <p:nvPr/>
        </p:nvSpPr>
        <p:spPr>
          <a:xfrm>
            <a:off x="4919472" y="5285232"/>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Bridges perception output to robot controllers</a:t>
            </a:r>
            <a:endParaRPr lang="en-US" sz="1100" dirty="0"/>
          </a:p>
        </p:txBody>
      </p:sp>
      <p:sp>
        <p:nvSpPr>
          <p:cNvPr id="28" name="Text 24"/>
          <p:cNvSpPr/>
          <p:nvPr/>
        </p:nvSpPr>
        <p:spPr>
          <a:xfrm>
            <a:off x="7836408" y="3794760"/>
            <a:ext cx="283464" cy="548640"/>
          </a:xfrm>
          <a:prstGeom prst="rect">
            <a:avLst/>
          </a:prstGeom>
          <a:noFill/>
          <a:ln/>
        </p:spPr>
        <p:txBody>
          <a:bodyPr wrap="square" rtlCol="0" anchor="ctr"/>
          <a:lstStyle/>
          <a:p>
            <a:pPr algn="ctr" indent="0" marL="0">
              <a:buNone/>
            </a:pPr>
            <a:r>
              <a:rPr lang="en-US" sz="2600" b="1" dirty="0">
                <a:solidFill>
                  <a:srgbClr val="F2A65A"/>
                </a:solidFill>
              </a:rPr>
              <a:t>+</a:t>
            </a:r>
            <a:endParaRPr lang="en-US" sz="2600" dirty="0"/>
          </a:p>
        </p:txBody>
      </p:sp>
      <p:sp>
        <p:nvSpPr>
          <p:cNvPr id="29" name="Shape 25"/>
          <p:cNvSpPr/>
          <p:nvPr/>
        </p:nvSpPr>
        <p:spPr>
          <a:xfrm>
            <a:off x="8138160" y="1965960"/>
            <a:ext cx="3429000" cy="4206240"/>
          </a:xfrm>
          <a:prstGeom prst="roundRect">
            <a:avLst>
              <a:gd name="adj" fmla="val 3200"/>
            </a:avLst>
          </a:prstGeom>
          <a:solidFill>
            <a:srgbClr val="0B3D62"/>
          </a:solidFill>
          <a:ln/>
        </p:spPr>
      </p:sp>
      <p:sp>
        <p:nvSpPr>
          <p:cNvPr id="30" name="Shape 26"/>
          <p:cNvSpPr/>
          <p:nvPr/>
        </p:nvSpPr>
        <p:spPr>
          <a:xfrm>
            <a:off x="8458200" y="2286000"/>
            <a:ext cx="621792" cy="621792"/>
          </a:xfrm>
          <a:prstGeom prst="ellipse">
            <a:avLst/>
          </a:prstGeom>
          <a:solidFill>
            <a:srgbClr val="1C8FA0"/>
          </a:solidFill>
          <a:ln/>
        </p:spPr>
      </p:sp>
      <p:pic>
        <p:nvPicPr>
          <p:cNvPr id="31" name="Image 2" descr="icons/cubes_white.png">    </p:cNvPr>
          <p:cNvPicPr>
            <a:picLocks noChangeAspect="1"/>
          </p:cNvPicPr>
          <p:nvPr/>
        </p:nvPicPr>
        <p:blipFill>
          <a:blip r:embed="rId3"/>
          <a:stretch>
            <a:fillRect/>
          </a:stretch>
        </p:blipFill>
        <p:spPr>
          <a:xfrm>
            <a:off x="8539033" y="2366833"/>
            <a:ext cx="460126" cy="460126"/>
          </a:xfrm>
          <a:prstGeom prst="rect">
            <a:avLst/>
          </a:prstGeom>
        </p:spPr>
      </p:pic>
      <p:sp>
        <p:nvSpPr>
          <p:cNvPr id="32" name="Text 27"/>
          <p:cNvSpPr/>
          <p:nvPr/>
        </p:nvSpPr>
        <p:spPr>
          <a:xfrm>
            <a:off x="8458200" y="3063240"/>
            <a:ext cx="278892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Gazebo</a:t>
            </a:r>
            <a:endParaRPr lang="en-US" sz="1700" dirty="0"/>
          </a:p>
        </p:txBody>
      </p:sp>
      <p:sp>
        <p:nvSpPr>
          <p:cNvPr id="33" name="Text 28"/>
          <p:cNvSpPr/>
          <p:nvPr/>
        </p:nvSpPr>
        <p:spPr>
          <a:xfrm>
            <a:off x="8458200" y="3410712"/>
            <a:ext cx="2788920" cy="320040"/>
          </a:xfrm>
          <a:prstGeom prst="rect">
            <a:avLst/>
          </a:prstGeom>
          <a:noFill/>
          <a:ln/>
        </p:spPr>
        <p:txBody>
          <a:bodyPr wrap="square" rtlCol="0" anchor="ctr"/>
          <a:lstStyle/>
          <a:p>
            <a:pPr indent="0" marL="0">
              <a:buNone/>
            </a:pPr>
            <a:r>
              <a:rPr lang="en-US" sz="1100" i="1" dirty="0">
                <a:solidFill>
                  <a:srgbClr val="F2A65A"/>
                </a:solidFill>
                <a:latin typeface="Calibri" pitchFamily="34" charset="0"/>
                <a:ea typeface="Calibri" pitchFamily="34" charset="-122"/>
                <a:cs typeface="Calibri" pitchFamily="34" charset="-120"/>
              </a:rPr>
              <a:t>The Simulation Layer</a:t>
            </a:r>
            <a:endParaRPr lang="en-US" sz="1100" dirty="0"/>
          </a:p>
        </p:txBody>
      </p:sp>
      <p:sp>
        <p:nvSpPr>
          <p:cNvPr id="34" name="Shape 29"/>
          <p:cNvSpPr/>
          <p:nvPr/>
        </p:nvSpPr>
        <p:spPr>
          <a:xfrm>
            <a:off x="8458200" y="3986784"/>
            <a:ext cx="91440" cy="91440"/>
          </a:xfrm>
          <a:prstGeom prst="ellipse">
            <a:avLst/>
          </a:prstGeom>
          <a:solidFill>
            <a:srgbClr val="1C8FA0"/>
          </a:solidFill>
          <a:ln/>
        </p:spPr>
      </p:sp>
      <p:sp>
        <p:nvSpPr>
          <p:cNvPr id="35" name="Text 30"/>
          <p:cNvSpPr/>
          <p:nvPr/>
        </p:nvSpPr>
        <p:spPr>
          <a:xfrm>
            <a:off x="8668512" y="3858768"/>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Physics-accurate virtual surgical environment</a:t>
            </a:r>
            <a:endParaRPr lang="en-US" sz="1100" dirty="0"/>
          </a:p>
        </p:txBody>
      </p:sp>
      <p:sp>
        <p:nvSpPr>
          <p:cNvPr id="36" name="Shape 31"/>
          <p:cNvSpPr/>
          <p:nvPr/>
        </p:nvSpPr>
        <p:spPr>
          <a:xfrm>
            <a:off x="8458200" y="4700016"/>
            <a:ext cx="91440" cy="91440"/>
          </a:xfrm>
          <a:prstGeom prst="ellipse">
            <a:avLst/>
          </a:prstGeom>
          <a:solidFill>
            <a:srgbClr val="1C8FA0"/>
          </a:solidFill>
          <a:ln/>
        </p:spPr>
      </p:sp>
      <p:sp>
        <p:nvSpPr>
          <p:cNvPr id="37" name="Text 32"/>
          <p:cNvSpPr/>
          <p:nvPr/>
        </p:nvSpPr>
        <p:spPr>
          <a:xfrm>
            <a:off x="8668512" y="4572000"/>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Safe space to test motion before real deployment</a:t>
            </a:r>
            <a:endParaRPr lang="en-US" sz="1100" dirty="0"/>
          </a:p>
        </p:txBody>
      </p:sp>
      <p:sp>
        <p:nvSpPr>
          <p:cNvPr id="38" name="Shape 33"/>
          <p:cNvSpPr/>
          <p:nvPr/>
        </p:nvSpPr>
        <p:spPr>
          <a:xfrm>
            <a:off x="8458200" y="5413248"/>
            <a:ext cx="91440" cy="91440"/>
          </a:xfrm>
          <a:prstGeom prst="ellipse">
            <a:avLst/>
          </a:prstGeom>
          <a:solidFill>
            <a:srgbClr val="1C8FA0"/>
          </a:solidFill>
          <a:ln/>
        </p:spPr>
      </p:sp>
      <p:sp>
        <p:nvSpPr>
          <p:cNvPr id="39" name="Text 34"/>
          <p:cNvSpPr/>
          <p:nvPr/>
        </p:nvSpPr>
        <p:spPr>
          <a:xfrm>
            <a:off x="8668512" y="5285232"/>
            <a:ext cx="2560320" cy="594360"/>
          </a:xfrm>
          <a:prstGeom prst="rect">
            <a:avLst/>
          </a:prstGeom>
          <a:noFill/>
          <a:ln/>
        </p:spPr>
        <p:txBody>
          <a:bodyPr wrap="square" rtlCol="0" anchor="ctr"/>
          <a:lstStyle/>
          <a:p>
            <a:pPr indent="0" marL="0">
              <a:lnSpc>
                <a:spcPts val="1400"/>
              </a:lnSpc>
              <a:buNone/>
            </a:pPr>
            <a:r>
              <a:rPr lang="en-US" sz="1100" dirty="0">
                <a:solidFill>
                  <a:srgbClr val="D7E3EC"/>
                </a:solidFill>
                <a:latin typeface="Calibri" pitchFamily="34" charset="0"/>
                <a:ea typeface="Calibri" pitchFamily="34" charset="-122"/>
                <a:cs typeface="Calibri" pitchFamily="34" charset="-120"/>
              </a:rPr>
              <a:t>Validates the full perception-to-control loop</a:t>
            </a:r>
            <a:endParaRPr lang="en-US" sz="1100" dirty="0"/>
          </a:p>
        </p:txBody>
      </p:sp>
      <p:sp>
        <p:nvSpPr>
          <p:cNvPr id="40" name="Text 35"/>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41" name="Text 36"/>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APPLICATION</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Role of Deep Learning in Robotic Surgery</a:t>
            </a:r>
            <a:endParaRPr lang="en-US" sz="2800" dirty="0"/>
          </a:p>
        </p:txBody>
      </p:sp>
      <p:sp>
        <p:nvSpPr>
          <p:cNvPr id="4" name="Shape 2"/>
          <p:cNvSpPr/>
          <p:nvPr/>
        </p:nvSpPr>
        <p:spPr>
          <a:xfrm>
            <a:off x="640080" y="1600200"/>
            <a:ext cx="3520440" cy="1874520"/>
          </a:xfrm>
          <a:prstGeom prst="roundRect">
            <a:avLst>
              <a:gd name="adj" fmla="val 4878"/>
            </a:avLst>
          </a:prstGeom>
          <a:solidFill>
            <a:srgbClr val="F6F8FA"/>
          </a:solidFill>
          <a:ln w="12700">
            <a:solidFill>
              <a:srgbClr val="E3E8EE"/>
            </a:solidFill>
            <a:prstDash val="solid"/>
          </a:ln>
        </p:spPr>
      </p:sp>
      <p:sp>
        <p:nvSpPr>
          <p:cNvPr id="5" name="Shape 3"/>
          <p:cNvSpPr/>
          <p:nvPr/>
        </p:nvSpPr>
        <p:spPr>
          <a:xfrm>
            <a:off x="841248" y="1801368"/>
            <a:ext cx="457200" cy="457200"/>
          </a:xfrm>
          <a:prstGeom prst="ellipse">
            <a:avLst/>
          </a:prstGeom>
          <a:solidFill>
            <a:srgbClr val="0B3D62"/>
          </a:solidFill>
          <a:ln/>
        </p:spPr>
      </p:sp>
      <p:pic>
        <p:nvPicPr>
          <p:cNvPr id="6" name="Image 0" descr="icons/eye_white.png">    </p:cNvPr>
          <p:cNvPicPr>
            <a:picLocks noChangeAspect="1"/>
          </p:cNvPicPr>
          <p:nvPr/>
        </p:nvPicPr>
        <p:blipFill>
          <a:blip r:embed="rId1"/>
          <a:stretch>
            <a:fillRect/>
          </a:stretch>
        </p:blipFill>
        <p:spPr>
          <a:xfrm>
            <a:off x="900684" y="1860804"/>
            <a:ext cx="338328" cy="338328"/>
          </a:xfrm>
          <a:prstGeom prst="rect">
            <a:avLst/>
          </a:prstGeom>
        </p:spPr>
      </p:pic>
      <p:sp>
        <p:nvSpPr>
          <p:cNvPr id="7" name="Text 4"/>
          <p:cNvSpPr/>
          <p:nvPr/>
        </p:nvSpPr>
        <p:spPr>
          <a:xfrm>
            <a:off x="1426464" y="1819656"/>
            <a:ext cx="2560320" cy="411480"/>
          </a:xfrm>
          <a:prstGeom prst="rect">
            <a:avLst/>
          </a:prstGeom>
          <a:noFill/>
          <a:ln/>
        </p:spPr>
        <p:txBody>
          <a:bodyPr wrap="square" rtlCol="0" anchor="ctr"/>
          <a:lstStyle/>
          <a:p>
            <a:pPr indent="0" marL="0">
              <a:buNone/>
            </a:pPr>
            <a:r>
              <a:rPr lang="en-US" sz="1350" b="1" dirty="0">
                <a:solidFill>
                  <a:srgbClr val="0B3D62"/>
                </a:solidFill>
                <a:latin typeface="Calibri" pitchFamily="34" charset="0"/>
                <a:ea typeface="Calibri" pitchFamily="34" charset="-122"/>
                <a:cs typeface="Calibri" pitchFamily="34" charset="-120"/>
              </a:rPr>
              <a:t>Scene Perception</a:t>
            </a:r>
            <a:endParaRPr lang="en-US" sz="1350" dirty="0"/>
          </a:p>
        </p:txBody>
      </p:sp>
      <p:sp>
        <p:nvSpPr>
          <p:cNvPr id="8" name="Text 5"/>
          <p:cNvSpPr/>
          <p:nvPr/>
        </p:nvSpPr>
        <p:spPr>
          <a:xfrm>
            <a:off x="841248" y="2377440"/>
            <a:ext cx="3118104" cy="100584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Continuously interprets endoscopic video to identify instruments, tissue, and anatomical landmarks in real time.</a:t>
            </a:r>
            <a:endParaRPr lang="en-US" sz="1050" dirty="0"/>
          </a:p>
        </p:txBody>
      </p:sp>
      <p:sp>
        <p:nvSpPr>
          <p:cNvPr id="9" name="Shape 6"/>
          <p:cNvSpPr/>
          <p:nvPr/>
        </p:nvSpPr>
        <p:spPr>
          <a:xfrm>
            <a:off x="4389120" y="1600200"/>
            <a:ext cx="3520440" cy="1874520"/>
          </a:xfrm>
          <a:prstGeom prst="roundRect">
            <a:avLst>
              <a:gd name="adj" fmla="val 4878"/>
            </a:avLst>
          </a:prstGeom>
          <a:solidFill>
            <a:srgbClr val="F6F8FA"/>
          </a:solidFill>
          <a:ln w="12700">
            <a:solidFill>
              <a:srgbClr val="E3E8EE"/>
            </a:solidFill>
            <a:prstDash val="solid"/>
          </a:ln>
        </p:spPr>
      </p:sp>
      <p:sp>
        <p:nvSpPr>
          <p:cNvPr id="10" name="Shape 7"/>
          <p:cNvSpPr/>
          <p:nvPr/>
        </p:nvSpPr>
        <p:spPr>
          <a:xfrm>
            <a:off x="4590288" y="1801368"/>
            <a:ext cx="457200" cy="457200"/>
          </a:xfrm>
          <a:prstGeom prst="ellipse">
            <a:avLst/>
          </a:prstGeom>
          <a:solidFill>
            <a:srgbClr val="0B3D62"/>
          </a:solidFill>
          <a:ln/>
        </p:spPr>
      </p:sp>
      <p:pic>
        <p:nvPicPr>
          <p:cNvPr id="11" name="Image 1" descr="icons/bullseye_white.png">    </p:cNvPr>
          <p:cNvPicPr>
            <a:picLocks noChangeAspect="1"/>
          </p:cNvPicPr>
          <p:nvPr/>
        </p:nvPicPr>
        <p:blipFill>
          <a:blip r:embed="rId2"/>
          <a:stretch>
            <a:fillRect/>
          </a:stretch>
        </p:blipFill>
        <p:spPr>
          <a:xfrm>
            <a:off x="4649724" y="1860804"/>
            <a:ext cx="338328" cy="338328"/>
          </a:xfrm>
          <a:prstGeom prst="rect">
            <a:avLst/>
          </a:prstGeom>
        </p:spPr>
      </p:pic>
      <p:sp>
        <p:nvSpPr>
          <p:cNvPr id="12" name="Text 8"/>
          <p:cNvSpPr/>
          <p:nvPr/>
        </p:nvSpPr>
        <p:spPr>
          <a:xfrm>
            <a:off x="5175504" y="1819656"/>
            <a:ext cx="2560320" cy="411480"/>
          </a:xfrm>
          <a:prstGeom prst="rect">
            <a:avLst/>
          </a:prstGeom>
          <a:noFill/>
          <a:ln/>
        </p:spPr>
        <p:txBody>
          <a:bodyPr wrap="square" rtlCol="0" anchor="ctr"/>
          <a:lstStyle/>
          <a:p>
            <a:pPr indent="0" marL="0">
              <a:buNone/>
            </a:pPr>
            <a:r>
              <a:rPr lang="en-US" sz="1350" b="1" dirty="0">
                <a:solidFill>
                  <a:srgbClr val="0B3D62"/>
                </a:solidFill>
                <a:latin typeface="Calibri" pitchFamily="34" charset="0"/>
                <a:ea typeface="Calibri" pitchFamily="34" charset="-122"/>
                <a:cs typeface="Calibri" pitchFamily="34" charset="-120"/>
              </a:rPr>
              <a:t>Instrument Awareness</a:t>
            </a:r>
            <a:endParaRPr lang="en-US" sz="1350" dirty="0"/>
          </a:p>
        </p:txBody>
      </p:sp>
      <p:sp>
        <p:nvSpPr>
          <p:cNvPr id="13" name="Text 9"/>
          <p:cNvSpPr/>
          <p:nvPr/>
        </p:nvSpPr>
        <p:spPr>
          <a:xfrm>
            <a:off x="4590288" y="2377440"/>
            <a:ext cx="3118104" cy="100584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Detects instrument position and orientation, enabling collision avoidance and precise tool tracking.</a:t>
            </a:r>
            <a:endParaRPr lang="en-US" sz="1050" dirty="0"/>
          </a:p>
        </p:txBody>
      </p:sp>
      <p:sp>
        <p:nvSpPr>
          <p:cNvPr id="14" name="Shape 10"/>
          <p:cNvSpPr/>
          <p:nvPr/>
        </p:nvSpPr>
        <p:spPr>
          <a:xfrm>
            <a:off x="8138160" y="1600200"/>
            <a:ext cx="3520440" cy="1874520"/>
          </a:xfrm>
          <a:prstGeom prst="roundRect">
            <a:avLst>
              <a:gd name="adj" fmla="val 4878"/>
            </a:avLst>
          </a:prstGeom>
          <a:solidFill>
            <a:srgbClr val="F6F8FA"/>
          </a:solidFill>
          <a:ln w="12700">
            <a:solidFill>
              <a:srgbClr val="E3E8EE"/>
            </a:solidFill>
            <a:prstDash val="solid"/>
          </a:ln>
        </p:spPr>
      </p:sp>
      <p:sp>
        <p:nvSpPr>
          <p:cNvPr id="15" name="Shape 11"/>
          <p:cNvSpPr/>
          <p:nvPr/>
        </p:nvSpPr>
        <p:spPr>
          <a:xfrm>
            <a:off x="8339328" y="1801368"/>
            <a:ext cx="457200" cy="457200"/>
          </a:xfrm>
          <a:prstGeom prst="ellipse">
            <a:avLst/>
          </a:prstGeom>
          <a:solidFill>
            <a:srgbClr val="0B3D62"/>
          </a:solidFill>
          <a:ln/>
        </p:spPr>
      </p:sp>
      <p:pic>
        <p:nvPicPr>
          <p:cNvPr id="16" name="Image 2" descr="icons/layers_white.png">    </p:cNvPr>
          <p:cNvPicPr>
            <a:picLocks noChangeAspect="1"/>
          </p:cNvPicPr>
          <p:nvPr/>
        </p:nvPicPr>
        <p:blipFill>
          <a:blip r:embed="rId3"/>
          <a:stretch>
            <a:fillRect/>
          </a:stretch>
        </p:blipFill>
        <p:spPr>
          <a:xfrm>
            <a:off x="8398764" y="1860804"/>
            <a:ext cx="338328" cy="338328"/>
          </a:xfrm>
          <a:prstGeom prst="rect">
            <a:avLst/>
          </a:prstGeom>
        </p:spPr>
      </p:pic>
      <p:sp>
        <p:nvSpPr>
          <p:cNvPr id="17" name="Text 12"/>
          <p:cNvSpPr/>
          <p:nvPr/>
        </p:nvSpPr>
        <p:spPr>
          <a:xfrm>
            <a:off x="8924544" y="1819656"/>
            <a:ext cx="2560320" cy="411480"/>
          </a:xfrm>
          <a:prstGeom prst="rect">
            <a:avLst/>
          </a:prstGeom>
          <a:noFill/>
          <a:ln/>
        </p:spPr>
        <p:txBody>
          <a:bodyPr wrap="square" rtlCol="0" anchor="ctr"/>
          <a:lstStyle/>
          <a:p>
            <a:pPr indent="0" marL="0">
              <a:buNone/>
            </a:pPr>
            <a:r>
              <a:rPr lang="en-US" sz="1350" b="1" dirty="0">
                <a:solidFill>
                  <a:srgbClr val="0B3D62"/>
                </a:solidFill>
                <a:latin typeface="Calibri" pitchFamily="34" charset="0"/>
                <a:ea typeface="Calibri" pitchFamily="34" charset="-122"/>
                <a:cs typeface="Calibri" pitchFamily="34" charset="-120"/>
              </a:rPr>
              <a:t>Tissue Differentiation</a:t>
            </a:r>
            <a:endParaRPr lang="en-US" sz="1350" dirty="0"/>
          </a:p>
        </p:txBody>
      </p:sp>
      <p:sp>
        <p:nvSpPr>
          <p:cNvPr id="18" name="Text 13"/>
          <p:cNvSpPr/>
          <p:nvPr/>
        </p:nvSpPr>
        <p:spPr>
          <a:xfrm>
            <a:off x="8339328" y="2377440"/>
            <a:ext cx="3118104" cy="100584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Pixel-level segmentation distinguishes target tissue from background and critical structures.</a:t>
            </a:r>
            <a:endParaRPr lang="en-US" sz="1050" dirty="0"/>
          </a:p>
        </p:txBody>
      </p:sp>
      <p:sp>
        <p:nvSpPr>
          <p:cNvPr id="19" name="Shape 14"/>
          <p:cNvSpPr/>
          <p:nvPr/>
        </p:nvSpPr>
        <p:spPr>
          <a:xfrm>
            <a:off x="640080" y="3703320"/>
            <a:ext cx="3520440" cy="1874520"/>
          </a:xfrm>
          <a:prstGeom prst="roundRect">
            <a:avLst>
              <a:gd name="adj" fmla="val 4878"/>
            </a:avLst>
          </a:prstGeom>
          <a:solidFill>
            <a:srgbClr val="F6F8FA"/>
          </a:solidFill>
          <a:ln w="12700">
            <a:solidFill>
              <a:srgbClr val="E3E8EE"/>
            </a:solidFill>
            <a:prstDash val="solid"/>
          </a:ln>
        </p:spPr>
      </p:sp>
      <p:sp>
        <p:nvSpPr>
          <p:cNvPr id="20" name="Shape 15"/>
          <p:cNvSpPr/>
          <p:nvPr/>
        </p:nvSpPr>
        <p:spPr>
          <a:xfrm>
            <a:off x="841248" y="3904488"/>
            <a:ext cx="457200" cy="457200"/>
          </a:xfrm>
          <a:prstGeom prst="ellipse">
            <a:avLst/>
          </a:prstGeom>
          <a:solidFill>
            <a:srgbClr val="0B3D62"/>
          </a:solidFill>
          <a:ln/>
        </p:spPr>
      </p:sp>
      <p:pic>
        <p:nvPicPr>
          <p:cNvPr id="21" name="Image 3" descr="icons/route_white.png">    </p:cNvPr>
          <p:cNvPicPr>
            <a:picLocks noChangeAspect="1"/>
          </p:cNvPicPr>
          <p:nvPr/>
        </p:nvPicPr>
        <p:blipFill>
          <a:blip r:embed="rId4"/>
          <a:stretch>
            <a:fillRect/>
          </a:stretch>
        </p:blipFill>
        <p:spPr>
          <a:xfrm>
            <a:off x="900684" y="3963924"/>
            <a:ext cx="338328" cy="338328"/>
          </a:xfrm>
          <a:prstGeom prst="rect">
            <a:avLst/>
          </a:prstGeom>
        </p:spPr>
      </p:pic>
      <p:sp>
        <p:nvSpPr>
          <p:cNvPr id="22" name="Text 16"/>
          <p:cNvSpPr/>
          <p:nvPr/>
        </p:nvSpPr>
        <p:spPr>
          <a:xfrm>
            <a:off x="1426464" y="3922776"/>
            <a:ext cx="2560320" cy="411480"/>
          </a:xfrm>
          <a:prstGeom prst="rect">
            <a:avLst/>
          </a:prstGeom>
          <a:noFill/>
          <a:ln/>
        </p:spPr>
        <p:txBody>
          <a:bodyPr wrap="square" rtlCol="0" anchor="ctr"/>
          <a:lstStyle/>
          <a:p>
            <a:pPr indent="0" marL="0">
              <a:buNone/>
            </a:pPr>
            <a:r>
              <a:rPr lang="en-US" sz="1350" b="1" dirty="0">
                <a:solidFill>
                  <a:srgbClr val="0B3D62"/>
                </a:solidFill>
                <a:latin typeface="Calibri" pitchFamily="34" charset="0"/>
                <a:ea typeface="Calibri" pitchFamily="34" charset="-122"/>
                <a:cs typeface="Calibri" pitchFamily="34" charset="-120"/>
              </a:rPr>
              <a:t>Motion Guidance</a:t>
            </a:r>
            <a:endParaRPr lang="en-US" sz="1350" dirty="0"/>
          </a:p>
        </p:txBody>
      </p:sp>
      <p:sp>
        <p:nvSpPr>
          <p:cNvPr id="23" name="Text 17"/>
          <p:cNvSpPr/>
          <p:nvPr/>
        </p:nvSpPr>
        <p:spPr>
          <a:xfrm>
            <a:off x="841248" y="4480560"/>
            <a:ext cx="3118104" cy="100584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Perception output constrains and informs the robot's planned trajectories for safer movement.</a:t>
            </a:r>
            <a:endParaRPr lang="en-US" sz="1050" dirty="0"/>
          </a:p>
        </p:txBody>
      </p:sp>
      <p:sp>
        <p:nvSpPr>
          <p:cNvPr id="24" name="Shape 18"/>
          <p:cNvSpPr/>
          <p:nvPr/>
        </p:nvSpPr>
        <p:spPr>
          <a:xfrm>
            <a:off x="4389120" y="3703320"/>
            <a:ext cx="3520440" cy="1874520"/>
          </a:xfrm>
          <a:prstGeom prst="roundRect">
            <a:avLst>
              <a:gd name="adj" fmla="val 4878"/>
            </a:avLst>
          </a:prstGeom>
          <a:solidFill>
            <a:srgbClr val="F6F8FA"/>
          </a:solidFill>
          <a:ln w="12700">
            <a:solidFill>
              <a:srgbClr val="E3E8EE"/>
            </a:solidFill>
            <a:prstDash val="solid"/>
          </a:ln>
        </p:spPr>
      </p:sp>
      <p:sp>
        <p:nvSpPr>
          <p:cNvPr id="25" name="Shape 19"/>
          <p:cNvSpPr/>
          <p:nvPr/>
        </p:nvSpPr>
        <p:spPr>
          <a:xfrm>
            <a:off x="4590288" y="3904488"/>
            <a:ext cx="457200" cy="457200"/>
          </a:xfrm>
          <a:prstGeom prst="ellipse">
            <a:avLst/>
          </a:prstGeom>
          <a:solidFill>
            <a:srgbClr val="0B3D62"/>
          </a:solidFill>
          <a:ln/>
        </p:spPr>
      </p:sp>
      <p:pic>
        <p:nvPicPr>
          <p:cNvPr id="26" name="Image 4" descr="icons/shield_white.png">    </p:cNvPr>
          <p:cNvPicPr>
            <a:picLocks noChangeAspect="1"/>
          </p:cNvPicPr>
          <p:nvPr/>
        </p:nvPicPr>
        <p:blipFill>
          <a:blip r:embed="rId5"/>
          <a:stretch>
            <a:fillRect/>
          </a:stretch>
        </p:blipFill>
        <p:spPr>
          <a:xfrm>
            <a:off x="4649724" y="3963924"/>
            <a:ext cx="338328" cy="338328"/>
          </a:xfrm>
          <a:prstGeom prst="rect">
            <a:avLst/>
          </a:prstGeom>
        </p:spPr>
      </p:pic>
      <p:sp>
        <p:nvSpPr>
          <p:cNvPr id="27" name="Text 20"/>
          <p:cNvSpPr/>
          <p:nvPr/>
        </p:nvSpPr>
        <p:spPr>
          <a:xfrm>
            <a:off x="5175504" y="3922776"/>
            <a:ext cx="2560320" cy="411480"/>
          </a:xfrm>
          <a:prstGeom prst="rect">
            <a:avLst/>
          </a:prstGeom>
          <a:noFill/>
          <a:ln/>
        </p:spPr>
        <p:txBody>
          <a:bodyPr wrap="square" rtlCol="0" anchor="ctr"/>
          <a:lstStyle/>
          <a:p>
            <a:pPr indent="0" marL="0">
              <a:buNone/>
            </a:pPr>
            <a:r>
              <a:rPr lang="en-US" sz="1350" b="1" dirty="0">
                <a:solidFill>
                  <a:srgbClr val="0B3D62"/>
                </a:solidFill>
                <a:latin typeface="Calibri" pitchFamily="34" charset="0"/>
                <a:ea typeface="Calibri" pitchFamily="34" charset="-122"/>
                <a:cs typeface="Calibri" pitchFamily="34" charset="-120"/>
              </a:rPr>
              <a:t>Risk Reduction</a:t>
            </a:r>
            <a:endParaRPr lang="en-US" sz="1350" dirty="0"/>
          </a:p>
        </p:txBody>
      </p:sp>
      <p:sp>
        <p:nvSpPr>
          <p:cNvPr id="28" name="Text 21"/>
          <p:cNvSpPr/>
          <p:nvPr/>
        </p:nvSpPr>
        <p:spPr>
          <a:xfrm>
            <a:off x="4590288" y="4480560"/>
            <a:ext cx="3118104" cy="100584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Flags ambiguous or low-confidence regions, supporting the surgeon rather than replacing judgment.</a:t>
            </a:r>
            <a:endParaRPr lang="en-US" sz="1050" dirty="0"/>
          </a:p>
        </p:txBody>
      </p:sp>
      <p:sp>
        <p:nvSpPr>
          <p:cNvPr id="29" name="Shape 22"/>
          <p:cNvSpPr/>
          <p:nvPr/>
        </p:nvSpPr>
        <p:spPr>
          <a:xfrm>
            <a:off x="8138160" y="3703320"/>
            <a:ext cx="3520440" cy="1874520"/>
          </a:xfrm>
          <a:prstGeom prst="roundRect">
            <a:avLst>
              <a:gd name="adj" fmla="val 4878"/>
            </a:avLst>
          </a:prstGeom>
          <a:solidFill>
            <a:srgbClr val="F6F8FA"/>
          </a:solidFill>
          <a:ln w="12700">
            <a:solidFill>
              <a:srgbClr val="E3E8EE"/>
            </a:solidFill>
            <a:prstDash val="solid"/>
          </a:ln>
        </p:spPr>
      </p:sp>
      <p:sp>
        <p:nvSpPr>
          <p:cNvPr id="30" name="Shape 23"/>
          <p:cNvSpPr/>
          <p:nvPr/>
        </p:nvSpPr>
        <p:spPr>
          <a:xfrm>
            <a:off x="8339328" y="3904488"/>
            <a:ext cx="457200" cy="457200"/>
          </a:xfrm>
          <a:prstGeom prst="ellipse">
            <a:avLst/>
          </a:prstGeom>
          <a:solidFill>
            <a:srgbClr val="0B3D62"/>
          </a:solidFill>
          <a:ln/>
        </p:spPr>
      </p:sp>
      <p:pic>
        <p:nvPicPr>
          <p:cNvPr id="31" name="Image 5" descr="icons/chart_white.png">    </p:cNvPr>
          <p:cNvPicPr>
            <a:picLocks noChangeAspect="1"/>
          </p:cNvPicPr>
          <p:nvPr/>
        </p:nvPicPr>
        <p:blipFill>
          <a:blip r:embed="rId6"/>
          <a:stretch>
            <a:fillRect/>
          </a:stretch>
        </p:blipFill>
        <p:spPr>
          <a:xfrm>
            <a:off x="8398764" y="3963924"/>
            <a:ext cx="338328" cy="338328"/>
          </a:xfrm>
          <a:prstGeom prst="rect">
            <a:avLst/>
          </a:prstGeom>
        </p:spPr>
      </p:pic>
      <p:sp>
        <p:nvSpPr>
          <p:cNvPr id="32" name="Text 24"/>
          <p:cNvSpPr/>
          <p:nvPr/>
        </p:nvSpPr>
        <p:spPr>
          <a:xfrm>
            <a:off x="8924544" y="3922776"/>
            <a:ext cx="2560320" cy="411480"/>
          </a:xfrm>
          <a:prstGeom prst="rect">
            <a:avLst/>
          </a:prstGeom>
          <a:noFill/>
          <a:ln/>
        </p:spPr>
        <p:txBody>
          <a:bodyPr wrap="square" rtlCol="0" anchor="ctr"/>
          <a:lstStyle/>
          <a:p>
            <a:pPr indent="0" marL="0">
              <a:buNone/>
            </a:pPr>
            <a:r>
              <a:rPr lang="en-US" sz="1350" b="1" dirty="0">
                <a:solidFill>
                  <a:srgbClr val="0B3D62"/>
                </a:solidFill>
                <a:latin typeface="Calibri" pitchFamily="34" charset="0"/>
                <a:ea typeface="Calibri" pitchFamily="34" charset="-122"/>
                <a:cs typeface="Calibri" pitchFamily="34" charset="-120"/>
              </a:rPr>
              <a:t>Continuous Learning</a:t>
            </a:r>
            <a:endParaRPr lang="en-US" sz="1350" dirty="0"/>
          </a:p>
        </p:txBody>
      </p:sp>
      <p:sp>
        <p:nvSpPr>
          <p:cNvPr id="33" name="Text 25"/>
          <p:cNvSpPr/>
          <p:nvPr/>
        </p:nvSpPr>
        <p:spPr>
          <a:xfrm>
            <a:off x="8339328" y="4480560"/>
            <a:ext cx="3118104" cy="100584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Model performance is measured and refined against clinical-grade accuracy benchmarks.</a:t>
            </a:r>
            <a:endParaRPr lang="en-US" sz="1050" dirty="0"/>
          </a:p>
        </p:txBody>
      </p:sp>
      <p:sp>
        <p:nvSpPr>
          <p:cNvPr id="34" name="Text 26"/>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5" name="Text 27"/>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SIMULATION</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2700" b="1" dirty="0">
                <a:solidFill>
                  <a:srgbClr val="1B1F24"/>
                </a:solidFill>
                <a:latin typeface="Cambria" pitchFamily="34" charset="0"/>
                <a:ea typeface="Cambria" pitchFamily="34" charset="-122"/>
                <a:cs typeface="Cambria" pitchFamily="34" charset="-120"/>
              </a:rPr>
              <a:t>Gazebo-Based Surgical Environment Simulation</a:t>
            </a:r>
            <a:endParaRPr lang="en-US" sz="2700" dirty="0"/>
          </a:p>
        </p:txBody>
      </p:sp>
      <p:sp>
        <p:nvSpPr>
          <p:cNvPr id="4" name="Shape 2"/>
          <p:cNvSpPr/>
          <p:nvPr/>
        </p:nvSpPr>
        <p:spPr>
          <a:xfrm>
            <a:off x="640080" y="1600200"/>
            <a:ext cx="5120640" cy="4480560"/>
          </a:xfrm>
          <a:prstGeom prst="roundRect">
            <a:avLst>
              <a:gd name="adj" fmla="val 2449"/>
            </a:avLst>
          </a:prstGeom>
          <a:solidFill>
            <a:srgbClr val="0B3D62"/>
          </a:solidFill>
          <a:ln/>
        </p:spPr>
      </p:sp>
      <p:sp>
        <p:nvSpPr>
          <p:cNvPr id="5" name="Shape 3"/>
          <p:cNvSpPr/>
          <p:nvPr/>
        </p:nvSpPr>
        <p:spPr>
          <a:xfrm>
            <a:off x="960120" y="1920240"/>
            <a:ext cx="685800" cy="685800"/>
          </a:xfrm>
          <a:prstGeom prst="ellipse">
            <a:avLst/>
          </a:prstGeom>
          <a:solidFill>
            <a:srgbClr val="1C8FA0"/>
          </a:solidFill>
          <a:ln/>
        </p:spPr>
      </p:sp>
      <p:pic>
        <p:nvPicPr>
          <p:cNvPr id="6" name="Image 0" descr="icons/cubes_white.png">    </p:cNvPr>
          <p:cNvPicPr>
            <a:picLocks noChangeAspect="1"/>
          </p:cNvPicPr>
          <p:nvPr/>
        </p:nvPicPr>
        <p:blipFill>
          <a:blip r:embed="rId1"/>
          <a:stretch>
            <a:fillRect/>
          </a:stretch>
        </p:blipFill>
        <p:spPr>
          <a:xfrm>
            <a:off x="1049274" y="2009394"/>
            <a:ext cx="507492" cy="507492"/>
          </a:xfrm>
          <a:prstGeom prst="rect">
            <a:avLst/>
          </a:prstGeom>
        </p:spPr>
      </p:pic>
      <p:sp>
        <p:nvSpPr>
          <p:cNvPr id="7" name="Text 4"/>
          <p:cNvSpPr/>
          <p:nvPr/>
        </p:nvSpPr>
        <p:spPr>
          <a:xfrm>
            <a:off x="1783080" y="2057400"/>
            <a:ext cx="356616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Simulate First?</a:t>
            </a:r>
            <a:endParaRPr lang="en-US" sz="1600" dirty="0"/>
          </a:p>
        </p:txBody>
      </p:sp>
      <p:sp>
        <p:nvSpPr>
          <p:cNvPr id="8" name="Text 5"/>
          <p:cNvSpPr/>
          <p:nvPr/>
        </p:nvSpPr>
        <p:spPr>
          <a:xfrm>
            <a:off x="960120" y="2788920"/>
            <a:ext cx="4480560" cy="914400"/>
          </a:xfrm>
          <a:prstGeom prst="rect">
            <a:avLst/>
          </a:prstGeom>
          <a:noFill/>
          <a:ln/>
        </p:spPr>
        <p:txBody>
          <a:bodyPr wrap="square" rtlCol="0" anchor="ctr"/>
          <a:lstStyle/>
          <a:p>
            <a:pPr indent="0" marL="0">
              <a:lnSpc>
                <a:spcPts val="1700"/>
              </a:lnSpc>
              <a:buNone/>
            </a:pPr>
            <a:r>
              <a:rPr lang="en-US" sz="1250" dirty="0">
                <a:solidFill>
                  <a:srgbClr val="D7E3EC"/>
                </a:solidFill>
                <a:latin typeface="Calibri" pitchFamily="34" charset="0"/>
                <a:ea typeface="Calibri" pitchFamily="34" charset="-122"/>
                <a:cs typeface="Calibri" pitchFamily="34" charset="-120"/>
              </a:rPr>
              <a:t>Before any perception or control logic reaches a physical robot, it is validated inside Gazebo — a physics-based 3D simulator integrated directly with ROS 2.</a:t>
            </a:r>
            <a:endParaRPr lang="en-US" sz="1250" dirty="0"/>
          </a:p>
        </p:txBody>
      </p:sp>
      <p:sp>
        <p:nvSpPr>
          <p:cNvPr id="9" name="Shape 6"/>
          <p:cNvSpPr/>
          <p:nvPr/>
        </p:nvSpPr>
        <p:spPr>
          <a:xfrm>
            <a:off x="960120" y="3886200"/>
            <a:ext cx="109728" cy="109728"/>
          </a:xfrm>
          <a:prstGeom prst="ellipse">
            <a:avLst/>
          </a:prstGeom>
          <a:solidFill>
            <a:srgbClr val="F2A65A"/>
          </a:solidFill>
          <a:ln/>
        </p:spPr>
      </p:sp>
      <p:sp>
        <p:nvSpPr>
          <p:cNvPr id="10" name="Text 7"/>
          <p:cNvSpPr/>
          <p:nvPr/>
        </p:nvSpPr>
        <p:spPr>
          <a:xfrm>
            <a:off x="1207008" y="3749040"/>
            <a:ext cx="4297680" cy="365760"/>
          </a:xfrm>
          <a:prstGeom prst="rect">
            <a:avLst/>
          </a:prstGeom>
          <a:noFill/>
          <a:ln/>
        </p:spPr>
        <p:txBody>
          <a:bodyPr wrap="square" rtlCol="0" anchor="ctr"/>
          <a:lstStyle/>
          <a:p>
            <a:pPr indent="0" marL="0">
              <a:buNone/>
            </a:pPr>
            <a:r>
              <a:rPr lang="en-US" sz="1200" dirty="0">
                <a:solidFill>
                  <a:srgbClr val="EDF2F6"/>
                </a:solidFill>
                <a:latin typeface="Calibri" pitchFamily="34" charset="0"/>
                <a:ea typeface="Calibri" pitchFamily="34" charset="-122"/>
                <a:cs typeface="Calibri" pitchFamily="34" charset="-120"/>
              </a:rPr>
              <a:t>Zero-risk testing of motion planning logic</a:t>
            </a:r>
            <a:endParaRPr lang="en-US" sz="1200" dirty="0"/>
          </a:p>
        </p:txBody>
      </p:sp>
      <p:sp>
        <p:nvSpPr>
          <p:cNvPr id="11" name="Shape 8"/>
          <p:cNvSpPr/>
          <p:nvPr/>
        </p:nvSpPr>
        <p:spPr>
          <a:xfrm>
            <a:off x="960120" y="4343400"/>
            <a:ext cx="109728" cy="109728"/>
          </a:xfrm>
          <a:prstGeom prst="ellipse">
            <a:avLst/>
          </a:prstGeom>
          <a:solidFill>
            <a:srgbClr val="F2A65A"/>
          </a:solidFill>
          <a:ln/>
        </p:spPr>
      </p:sp>
      <p:sp>
        <p:nvSpPr>
          <p:cNvPr id="12" name="Text 9"/>
          <p:cNvSpPr/>
          <p:nvPr/>
        </p:nvSpPr>
        <p:spPr>
          <a:xfrm>
            <a:off x="1207008" y="4206240"/>
            <a:ext cx="4297680" cy="365760"/>
          </a:xfrm>
          <a:prstGeom prst="rect">
            <a:avLst/>
          </a:prstGeom>
          <a:noFill/>
          <a:ln/>
        </p:spPr>
        <p:txBody>
          <a:bodyPr wrap="square" rtlCol="0" anchor="ctr"/>
          <a:lstStyle/>
          <a:p>
            <a:pPr indent="0" marL="0">
              <a:buNone/>
            </a:pPr>
            <a:r>
              <a:rPr lang="en-US" sz="1200" dirty="0">
                <a:solidFill>
                  <a:srgbClr val="EDF2F6"/>
                </a:solidFill>
                <a:latin typeface="Calibri" pitchFamily="34" charset="0"/>
                <a:ea typeface="Calibri" pitchFamily="34" charset="-122"/>
                <a:cs typeface="Calibri" pitchFamily="34" charset="-120"/>
              </a:rPr>
              <a:t>Rapid iteration without hardware constraints</a:t>
            </a:r>
            <a:endParaRPr lang="en-US" sz="1200" dirty="0"/>
          </a:p>
        </p:txBody>
      </p:sp>
      <p:sp>
        <p:nvSpPr>
          <p:cNvPr id="13" name="Shape 10"/>
          <p:cNvSpPr/>
          <p:nvPr/>
        </p:nvSpPr>
        <p:spPr>
          <a:xfrm>
            <a:off x="960120" y="4800600"/>
            <a:ext cx="109728" cy="109728"/>
          </a:xfrm>
          <a:prstGeom prst="ellipse">
            <a:avLst/>
          </a:prstGeom>
          <a:solidFill>
            <a:srgbClr val="F2A65A"/>
          </a:solidFill>
          <a:ln/>
        </p:spPr>
      </p:sp>
      <p:sp>
        <p:nvSpPr>
          <p:cNvPr id="14" name="Text 11"/>
          <p:cNvSpPr/>
          <p:nvPr/>
        </p:nvSpPr>
        <p:spPr>
          <a:xfrm>
            <a:off x="1207008" y="4663440"/>
            <a:ext cx="4297680" cy="365760"/>
          </a:xfrm>
          <a:prstGeom prst="rect">
            <a:avLst/>
          </a:prstGeom>
          <a:noFill/>
          <a:ln/>
        </p:spPr>
        <p:txBody>
          <a:bodyPr wrap="square" rtlCol="0" anchor="ctr"/>
          <a:lstStyle/>
          <a:p>
            <a:pPr indent="0" marL="0">
              <a:buNone/>
            </a:pPr>
            <a:r>
              <a:rPr lang="en-US" sz="1200" dirty="0">
                <a:solidFill>
                  <a:srgbClr val="EDF2F6"/>
                </a:solidFill>
                <a:latin typeface="Calibri" pitchFamily="34" charset="0"/>
                <a:ea typeface="Calibri" pitchFamily="34" charset="-122"/>
                <a:cs typeface="Calibri" pitchFamily="34" charset="-120"/>
              </a:rPr>
              <a:t>Reproducible scenes for consistent evaluation</a:t>
            </a:r>
            <a:endParaRPr lang="en-US" sz="1200" dirty="0"/>
          </a:p>
        </p:txBody>
      </p:sp>
      <p:sp>
        <p:nvSpPr>
          <p:cNvPr id="15" name="Shape 12"/>
          <p:cNvSpPr/>
          <p:nvPr/>
        </p:nvSpPr>
        <p:spPr>
          <a:xfrm>
            <a:off x="960120" y="5257800"/>
            <a:ext cx="109728" cy="109728"/>
          </a:xfrm>
          <a:prstGeom prst="ellipse">
            <a:avLst/>
          </a:prstGeom>
          <a:solidFill>
            <a:srgbClr val="F2A65A"/>
          </a:solidFill>
          <a:ln/>
        </p:spPr>
      </p:sp>
      <p:sp>
        <p:nvSpPr>
          <p:cNvPr id="16" name="Text 13"/>
          <p:cNvSpPr/>
          <p:nvPr/>
        </p:nvSpPr>
        <p:spPr>
          <a:xfrm>
            <a:off x="1207008" y="5120640"/>
            <a:ext cx="4297680" cy="365760"/>
          </a:xfrm>
          <a:prstGeom prst="rect">
            <a:avLst/>
          </a:prstGeom>
          <a:noFill/>
          <a:ln/>
        </p:spPr>
        <p:txBody>
          <a:bodyPr wrap="square" rtlCol="0" anchor="ctr"/>
          <a:lstStyle/>
          <a:p>
            <a:pPr indent="0" marL="0">
              <a:buNone/>
            </a:pPr>
            <a:r>
              <a:rPr lang="en-US" sz="1200" dirty="0">
                <a:solidFill>
                  <a:srgbClr val="EDF2F6"/>
                </a:solidFill>
                <a:latin typeface="Calibri" pitchFamily="34" charset="0"/>
                <a:ea typeface="Calibri" pitchFamily="34" charset="-122"/>
                <a:cs typeface="Calibri" pitchFamily="34" charset="-120"/>
              </a:rPr>
              <a:t>Direct bridge to ROS 2 topics used in deployment</a:t>
            </a:r>
            <a:endParaRPr lang="en-US" sz="1200" dirty="0"/>
          </a:p>
        </p:txBody>
      </p:sp>
      <p:sp>
        <p:nvSpPr>
          <p:cNvPr id="17" name="Text 14"/>
          <p:cNvSpPr/>
          <p:nvPr/>
        </p:nvSpPr>
        <p:spPr>
          <a:xfrm>
            <a:off x="6172200" y="1691640"/>
            <a:ext cx="5394960" cy="365760"/>
          </a:xfrm>
          <a:prstGeom prst="rect">
            <a:avLst/>
          </a:prstGeom>
          <a:noFill/>
          <a:ln/>
        </p:spPr>
        <p:txBody>
          <a:bodyPr wrap="square"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Simulation-to-Deployment Loop</a:t>
            </a:r>
            <a:endParaRPr lang="en-US" sz="1400" dirty="0"/>
          </a:p>
        </p:txBody>
      </p:sp>
      <p:sp>
        <p:nvSpPr>
          <p:cNvPr id="18" name="Shape 15"/>
          <p:cNvSpPr/>
          <p:nvPr/>
        </p:nvSpPr>
        <p:spPr>
          <a:xfrm>
            <a:off x="6172200" y="2240280"/>
            <a:ext cx="502920" cy="502920"/>
          </a:xfrm>
          <a:prstGeom prst="ellipse">
            <a:avLst/>
          </a:prstGeom>
          <a:solidFill>
            <a:srgbClr val="0B3D62"/>
          </a:solidFill>
          <a:ln/>
        </p:spPr>
      </p:sp>
      <p:pic>
        <p:nvPicPr>
          <p:cNvPr id="19" name="Image 1" descr="icons/cubes_white.png">    </p:cNvPr>
          <p:cNvPicPr>
            <a:picLocks noChangeAspect="1"/>
          </p:cNvPicPr>
          <p:nvPr/>
        </p:nvPicPr>
        <p:blipFill>
          <a:blip r:embed="rId2"/>
          <a:stretch>
            <a:fillRect/>
          </a:stretch>
        </p:blipFill>
        <p:spPr>
          <a:xfrm>
            <a:off x="6237580" y="2305660"/>
            <a:ext cx="372161" cy="372161"/>
          </a:xfrm>
          <a:prstGeom prst="rect">
            <a:avLst/>
          </a:prstGeom>
        </p:spPr>
      </p:pic>
      <p:sp>
        <p:nvSpPr>
          <p:cNvPr id="20" name="Text 16"/>
          <p:cNvSpPr/>
          <p:nvPr/>
        </p:nvSpPr>
        <p:spPr>
          <a:xfrm>
            <a:off x="6830568" y="2221992"/>
            <a:ext cx="4736592" cy="292608"/>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Build virtual OR scene</a:t>
            </a:r>
            <a:endParaRPr lang="en-US" sz="1300" dirty="0"/>
          </a:p>
        </p:txBody>
      </p:sp>
      <p:sp>
        <p:nvSpPr>
          <p:cNvPr id="21" name="Text 17"/>
          <p:cNvSpPr/>
          <p:nvPr/>
        </p:nvSpPr>
        <p:spPr>
          <a:xfrm>
            <a:off x="6830568" y="2496312"/>
            <a:ext cx="4736592" cy="45720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Instruments, tissue models, and camera views defined in Gazebo</a:t>
            </a:r>
            <a:endParaRPr lang="en-US" sz="1050" dirty="0"/>
          </a:p>
        </p:txBody>
      </p:sp>
      <p:sp>
        <p:nvSpPr>
          <p:cNvPr id="22" name="Shape 18"/>
          <p:cNvSpPr/>
          <p:nvPr/>
        </p:nvSpPr>
        <p:spPr>
          <a:xfrm>
            <a:off x="6423660" y="2788920"/>
            <a:ext cx="0" cy="457200"/>
          </a:xfrm>
          <a:prstGeom prst="line">
            <a:avLst/>
          </a:prstGeom>
          <a:noFill/>
          <a:ln w="19050">
            <a:solidFill>
              <a:srgbClr val="C7D6E3"/>
            </a:solidFill>
            <a:prstDash val="dash"/>
          </a:ln>
        </p:spPr>
      </p:sp>
      <p:sp>
        <p:nvSpPr>
          <p:cNvPr id="23" name="Shape 19"/>
          <p:cNvSpPr/>
          <p:nvPr/>
        </p:nvSpPr>
        <p:spPr>
          <a:xfrm>
            <a:off x="6172200" y="3264408"/>
            <a:ext cx="502920" cy="502920"/>
          </a:xfrm>
          <a:prstGeom prst="ellipse">
            <a:avLst/>
          </a:prstGeom>
          <a:solidFill>
            <a:srgbClr val="0B3D62"/>
          </a:solidFill>
          <a:ln/>
        </p:spPr>
      </p:sp>
      <p:pic>
        <p:nvPicPr>
          <p:cNvPr id="24" name="Image 2" descr="icons/robot_white.png">    </p:cNvPr>
          <p:cNvPicPr>
            <a:picLocks noChangeAspect="1"/>
          </p:cNvPicPr>
          <p:nvPr/>
        </p:nvPicPr>
        <p:blipFill>
          <a:blip r:embed="rId3"/>
          <a:stretch>
            <a:fillRect/>
          </a:stretch>
        </p:blipFill>
        <p:spPr>
          <a:xfrm>
            <a:off x="6237580" y="3329788"/>
            <a:ext cx="372161" cy="372161"/>
          </a:xfrm>
          <a:prstGeom prst="rect">
            <a:avLst/>
          </a:prstGeom>
        </p:spPr>
      </p:pic>
      <p:sp>
        <p:nvSpPr>
          <p:cNvPr id="25" name="Text 20"/>
          <p:cNvSpPr/>
          <p:nvPr/>
        </p:nvSpPr>
        <p:spPr>
          <a:xfrm>
            <a:off x="6830568" y="3246120"/>
            <a:ext cx="4736592" cy="292608"/>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Spawn robot model</a:t>
            </a:r>
            <a:endParaRPr lang="en-US" sz="1300" dirty="0"/>
          </a:p>
        </p:txBody>
      </p:sp>
      <p:sp>
        <p:nvSpPr>
          <p:cNvPr id="26" name="Text 21"/>
          <p:cNvSpPr/>
          <p:nvPr/>
        </p:nvSpPr>
        <p:spPr>
          <a:xfrm>
            <a:off x="6830568" y="3520440"/>
            <a:ext cx="4736592" cy="45720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URDF-defined manipulator matches real robot kinematics</a:t>
            </a:r>
            <a:endParaRPr lang="en-US" sz="1050" dirty="0"/>
          </a:p>
        </p:txBody>
      </p:sp>
      <p:sp>
        <p:nvSpPr>
          <p:cNvPr id="27" name="Shape 22"/>
          <p:cNvSpPr/>
          <p:nvPr/>
        </p:nvSpPr>
        <p:spPr>
          <a:xfrm>
            <a:off x="6423660" y="3813048"/>
            <a:ext cx="0" cy="457200"/>
          </a:xfrm>
          <a:prstGeom prst="line">
            <a:avLst/>
          </a:prstGeom>
          <a:noFill/>
          <a:ln w="19050">
            <a:solidFill>
              <a:srgbClr val="C7D6E3"/>
            </a:solidFill>
            <a:prstDash val="dash"/>
          </a:ln>
        </p:spPr>
      </p:sp>
      <p:sp>
        <p:nvSpPr>
          <p:cNvPr id="28" name="Shape 23"/>
          <p:cNvSpPr/>
          <p:nvPr/>
        </p:nvSpPr>
        <p:spPr>
          <a:xfrm>
            <a:off x="6172200" y="4288536"/>
            <a:ext cx="502920" cy="502920"/>
          </a:xfrm>
          <a:prstGeom prst="ellipse">
            <a:avLst/>
          </a:prstGeom>
          <a:solidFill>
            <a:srgbClr val="0B3D62"/>
          </a:solidFill>
          <a:ln/>
        </p:spPr>
      </p:sp>
      <p:pic>
        <p:nvPicPr>
          <p:cNvPr id="29" name="Image 3" descr="icons/brain_white.png">    </p:cNvPr>
          <p:cNvPicPr>
            <a:picLocks noChangeAspect="1"/>
          </p:cNvPicPr>
          <p:nvPr/>
        </p:nvPicPr>
        <p:blipFill>
          <a:blip r:embed="rId4"/>
          <a:stretch>
            <a:fillRect/>
          </a:stretch>
        </p:blipFill>
        <p:spPr>
          <a:xfrm>
            <a:off x="6237580" y="4353916"/>
            <a:ext cx="372161" cy="372161"/>
          </a:xfrm>
          <a:prstGeom prst="rect">
            <a:avLst/>
          </a:prstGeom>
        </p:spPr>
      </p:pic>
      <p:sp>
        <p:nvSpPr>
          <p:cNvPr id="30" name="Text 24"/>
          <p:cNvSpPr/>
          <p:nvPr/>
        </p:nvSpPr>
        <p:spPr>
          <a:xfrm>
            <a:off x="6830568" y="4270248"/>
            <a:ext cx="4736592" cy="292608"/>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Feed DL perception</a:t>
            </a:r>
            <a:endParaRPr lang="en-US" sz="1300" dirty="0"/>
          </a:p>
        </p:txBody>
      </p:sp>
      <p:sp>
        <p:nvSpPr>
          <p:cNvPr id="31" name="Text 25"/>
          <p:cNvSpPr/>
          <p:nvPr/>
        </p:nvSpPr>
        <p:spPr>
          <a:xfrm>
            <a:off x="6830568" y="4544568"/>
            <a:ext cx="4736592" cy="45720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U-Net &amp; YOLO outputs stream into the simulated control loop</a:t>
            </a:r>
            <a:endParaRPr lang="en-US" sz="1050" dirty="0"/>
          </a:p>
        </p:txBody>
      </p:sp>
      <p:sp>
        <p:nvSpPr>
          <p:cNvPr id="32" name="Shape 26"/>
          <p:cNvSpPr/>
          <p:nvPr/>
        </p:nvSpPr>
        <p:spPr>
          <a:xfrm>
            <a:off x="6423660" y="4837176"/>
            <a:ext cx="0" cy="457200"/>
          </a:xfrm>
          <a:prstGeom prst="line">
            <a:avLst/>
          </a:prstGeom>
          <a:noFill/>
          <a:ln w="19050">
            <a:solidFill>
              <a:srgbClr val="C7D6E3"/>
            </a:solidFill>
            <a:prstDash val="dash"/>
          </a:ln>
        </p:spPr>
      </p:sp>
      <p:sp>
        <p:nvSpPr>
          <p:cNvPr id="33" name="Shape 27"/>
          <p:cNvSpPr/>
          <p:nvPr/>
        </p:nvSpPr>
        <p:spPr>
          <a:xfrm>
            <a:off x="6172200" y="5312664"/>
            <a:ext cx="502920" cy="502920"/>
          </a:xfrm>
          <a:prstGeom prst="ellipse">
            <a:avLst/>
          </a:prstGeom>
          <a:solidFill>
            <a:srgbClr val="0B3D62"/>
          </a:solidFill>
          <a:ln/>
        </p:spPr>
      </p:sp>
      <p:pic>
        <p:nvPicPr>
          <p:cNvPr id="34" name="Image 4" descr="icons/check_white.png">    </p:cNvPr>
          <p:cNvPicPr>
            <a:picLocks noChangeAspect="1"/>
          </p:cNvPicPr>
          <p:nvPr/>
        </p:nvPicPr>
        <p:blipFill>
          <a:blip r:embed="rId5"/>
          <a:stretch>
            <a:fillRect/>
          </a:stretch>
        </p:blipFill>
        <p:spPr>
          <a:xfrm>
            <a:off x="6237580" y="5378044"/>
            <a:ext cx="372161" cy="372161"/>
          </a:xfrm>
          <a:prstGeom prst="rect">
            <a:avLst/>
          </a:prstGeom>
        </p:spPr>
      </p:pic>
      <p:sp>
        <p:nvSpPr>
          <p:cNvPr id="35" name="Text 28"/>
          <p:cNvSpPr/>
          <p:nvPr/>
        </p:nvSpPr>
        <p:spPr>
          <a:xfrm>
            <a:off x="6830568" y="5294376"/>
            <a:ext cx="4736592" cy="292608"/>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Validate &amp; tune</a:t>
            </a:r>
            <a:endParaRPr lang="en-US" sz="1300" dirty="0"/>
          </a:p>
        </p:txBody>
      </p:sp>
      <p:sp>
        <p:nvSpPr>
          <p:cNvPr id="36" name="Text 29"/>
          <p:cNvSpPr/>
          <p:nvPr/>
        </p:nvSpPr>
        <p:spPr>
          <a:xfrm>
            <a:off x="6830568" y="5568696"/>
            <a:ext cx="4736592" cy="45720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Motion paths verified for safety before real-world transfer</a:t>
            </a:r>
            <a:endParaRPr lang="en-US" sz="1050" dirty="0"/>
          </a:p>
        </p:txBody>
      </p:sp>
      <p:sp>
        <p:nvSpPr>
          <p:cNvPr id="37" name="Text 30"/>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8" name="Text 31"/>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DATA ENGINEERING</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Synthetic Data Generation</a:t>
            </a:r>
            <a:endParaRPr lang="en-US" sz="3000" dirty="0"/>
          </a:p>
        </p:txBody>
      </p:sp>
      <p:sp>
        <p:nvSpPr>
          <p:cNvPr id="4" name="Text 2"/>
          <p:cNvSpPr/>
          <p:nvPr/>
        </p:nvSpPr>
        <p:spPr>
          <a:xfrm>
            <a:off x="640080" y="1353312"/>
            <a:ext cx="9144000" cy="365760"/>
          </a:xfrm>
          <a:prstGeom prst="rect">
            <a:avLst/>
          </a:prstGeom>
          <a:noFill/>
          <a:ln/>
        </p:spPr>
        <p:txBody>
          <a:bodyPr wrap="square" rtlCol="0" anchor="ctr"/>
          <a:lstStyle/>
          <a:p>
            <a:pPr indent="0" marL="0">
              <a:buNone/>
            </a:pPr>
            <a:r>
              <a:rPr lang="en-US" sz="1300" i="1" dirty="0">
                <a:solidFill>
                  <a:srgbClr val="5B6673"/>
                </a:solidFill>
                <a:latin typeface="Calibri" pitchFamily="34" charset="0"/>
                <a:ea typeface="Calibri" pitchFamily="34" charset="-122"/>
                <a:cs typeface="Calibri" pitchFamily="34" charset="-120"/>
              </a:rPr>
              <a:t>Deriving detection labels directly from segmentation masks</a:t>
            </a:r>
            <a:endParaRPr lang="en-US" sz="1300" dirty="0"/>
          </a:p>
        </p:txBody>
      </p:sp>
      <p:sp>
        <p:nvSpPr>
          <p:cNvPr id="5" name="Text 3"/>
          <p:cNvSpPr/>
          <p:nvPr/>
        </p:nvSpPr>
        <p:spPr>
          <a:xfrm>
            <a:off x="640080" y="1828800"/>
            <a:ext cx="10881360" cy="1005840"/>
          </a:xfrm>
          <a:prstGeom prst="rect">
            <a:avLst/>
          </a:prstGeom>
          <a:noFill/>
          <a:ln/>
        </p:spPr>
        <p:txBody>
          <a:bodyPr wrap="square" rtlCol="0" anchor="ctr"/>
          <a:lstStyle/>
          <a:p>
            <a:pPr indent="0" marL="0">
              <a:lnSpc>
                <a:spcPts val="1900"/>
              </a:lnSpc>
              <a:buNone/>
            </a:pPr>
            <a:r>
              <a:rPr lang="en-US" sz="1350" dirty="0">
                <a:solidFill>
                  <a:srgbClr val="1B1F24"/>
                </a:solidFill>
                <a:latin typeface="Calibri" pitchFamily="34" charset="0"/>
                <a:ea typeface="Calibri" pitchFamily="34" charset="-122"/>
                <a:cs typeface="Calibri" pitchFamily="34" charset="-120"/>
              </a:rPr>
              <a:t>EndoVis2017 ships with pixel-level segmentation masks but no bounding-box labels. To train the YOLO detector without manual annotation, bounding boxes are synthetically generated by locating the foreground pixels of each instrument class and computing their enclosing rectangle — producing a complete detection dataset directly from existing segmentation labels.</a:t>
            </a:r>
            <a:endParaRPr lang="en-US" sz="1350" dirty="0"/>
          </a:p>
        </p:txBody>
      </p:sp>
      <p:sp>
        <p:nvSpPr>
          <p:cNvPr id="6" name="Shape 4"/>
          <p:cNvSpPr/>
          <p:nvPr/>
        </p:nvSpPr>
        <p:spPr>
          <a:xfrm>
            <a:off x="640080" y="3246120"/>
            <a:ext cx="2514600" cy="2651760"/>
          </a:xfrm>
          <a:prstGeom prst="roundRect">
            <a:avLst>
              <a:gd name="adj" fmla="val 3636"/>
            </a:avLst>
          </a:prstGeom>
          <a:solidFill>
            <a:srgbClr val="F6F8FA"/>
          </a:solidFill>
          <a:ln w="12700">
            <a:solidFill>
              <a:srgbClr val="E3E8EE"/>
            </a:solidFill>
            <a:prstDash val="solid"/>
          </a:ln>
        </p:spPr>
      </p:sp>
      <p:sp>
        <p:nvSpPr>
          <p:cNvPr id="7" name="Shape 5"/>
          <p:cNvSpPr/>
          <p:nvPr/>
        </p:nvSpPr>
        <p:spPr>
          <a:xfrm>
            <a:off x="1586484" y="3520440"/>
            <a:ext cx="621792" cy="621792"/>
          </a:xfrm>
          <a:prstGeom prst="ellipse">
            <a:avLst/>
          </a:prstGeom>
          <a:solidFill>
            <a:srgbClr val="0B3D62"/>
          </a:solidFill>
          <a:ln/>
        </p:spPr>
      </p:sp>
      <p:pic>
        <p:nvPicPr>
          <p:cNvPr id="8" name="Image 0" descr="icons/layers_white.png">    </p:cNvPr>
          <p:cNvPicPr>
            <a:picLocks noChangeAspect="1"/>
          </p:cNvPicPr>
          <p:nvPr/>
        </p:nvPicPr>
        <p:blipFill>
          <a:blip r:embed="rId1"/>
          <a:stretch>
            <a:fillRect/>
          </a:stretch>
        </p:blipFill>
        <p:spPr>
          <a:xfrm>
            <a:off x="1667317" y="3601273"/>
            <a:ext cx="460126" cy="460126"/>
          </a:xfrm>
          <a:prstGeom prst="rect">
            <a:avLst/>
          </a:prstGeom>
        </p:spPr>
      </p:pic>
      <p:sp>
        <p:nvSpPr>
          <p:cNvPr id="9" name="Text 6"/>
          <p:cNvSpPr/>
          <p:nvPr/>
        </p:nvSpPr>
        <p:spPr>
          <a:xfrm>
            <a:off x="777240" y="4297680"/>
            <a:ext cx="2240280" cy="36576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1. Segmentation Mask</a:t>
            </a:r>
            <a:endParaRPr lang="en-US" sz="1300" dirty="0"/>
          </a:p>
        </p:txBody>
      </p:sp>
      <p:sp>
        <p:nvSpPr>
          <p:cNvPr id="10" name="Text 7"/>
          <p:cNvSpPr/>
          <p:nvPr/>
        </p:nvSpPr>
        <p:spPr>
          <a:xfrm>
            <a:off x="777240" y="4709160"/>
            <a:ext cx="2240280" cy="1005840"/>
          </a:xfrm>
          <a:prstGeom prst="rect">
            <a:avLst/>
          </a:prstGeom>
          <a:noFill/>
          <a:ln/>
        </p:spPr>
        <p:txBody>
          <a:bodyPr wrap="square" rtlCol="0" anchor="ctr"/>
          <a:lstStyle/>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Start from ground-truth</a:t>
            </a:r>
            <a:endParaRPr lang="en-US" sz="1100" dirty="0"/>
          </a:p>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pixel labels (0–7 classes)</a:t>
            </a:r>
            <a:endParaRPr lang="en-US" sz="1100" dirty="0"/>
          </a:p>
        </p:txBody>
      </p:sp>
      <p:sp>
        <p:nvSpPr>
          <p:cNvPr id="11" name="Text 8"/>
          <p:cNvSpPr/>
          <p:nvPr/>
        </p:nvSpPr>
        <p:spPr>
          <a:xfrm>
            <a:off x="3136392" y="4343400"/>
            <a:ext cx="356616" cy="457200"/>
          </a:xfrm>
          <a:prstGeom prst="rect">
            <a:avLst/>
          </a:prstGeom>
          <a:noFill/>
          <a:ln/>
        </p:spPr>
        <p:txBody>
          <a:bodyPr wrap="square" rtlCol="0" anchor="ctr"/>
          <a:lstStyle/>
          <a:p>
            <a:pPr algn="ctr" indent="0" marL="0">
              <a:buNone/>
            </a:pPr>
            <a:r>
              <a:rPr lang="en-US" sz="2000" b="1" dirty="0">
                <a:solidFill>
                  <a:srgbClr val="F2A65A"/>
                </a:solidFill>
              </a:rPr>
              <a:t>→</a:t>
            </a:r>
            <a:endParaRPr lang="en-US" sz="2000" dirty="0"/>
          </a:p>
        </p:txBody>
      </p:sp>
      <p:sp>
        <p:nvSpPr>
          <p:cNvPr id="12" name="Shape 9"/>
          <p:cNvSpPr/>
          <p:nvPr/>
        </p:nvSpPr>
        <p:spPr>
          <a:xfrm>
            <a:off x="3474720" y="3246120"/>
            <a:ext cx="2514600" cy="2651760"/>
          </a:xfrm>
          <a:prstGeom prst="roundRect">
            <a:avLst>
              <a:gd name="adj" fmla="val 3636"/>
            </a:avLst>
          </a:prstGeom>
          <a:solidFill>
            <a:srgbClr val="F6F8FA"/>
          </a:solidFill>
          <a:ln w="12700">
            <a:solidFill>
              <a:srgbClr val="E3E8EE"/>
            </a:solidFill>
            <a:prstDash val="solid"/>
          </a:ln>
        </p:spPr>
      </p:sp>
      <p:sp>
        <p:nvSpPr>
          <p:cNvPr id="13" name="Shape 10"/>
          <p:cNvSpPr/>
          <p:nvPr/>
        </p:nvSpPr>
        <p:spPr>
          <a:xfrm>
            <a:off x="4421124" y="3520440"/>
            <a:ext cx="621792" cy="621792"/>
          </a:xfrm>
          <a:prstGeom prst="ellipse">
            <a:avLst/>
          </a:prstGeom>
          <a:solidFill>
            <a:srgbClr val="0B3D62"/>
          </a:solidFill>
          <a:ln/>
        </p:spPr>
      </p:sp>
      <p:pic>
        <p:nvPicPr>
          <p:cNvPr id="14" name="Image 1" descr="icons/eye_white.png">    </p:cNvPr>
          <p:cNvPicPr>
            <a:picLocks noChangeAspect="1"/>
          </p:cNvPicPr>
          <p:nvPr/>
        </p:nvPicPr>
        <p:blipFill>
          <a:blip r:embed="rId2"/>
          <a:stretch>
            <a:fillRect/>
          </a:stretch>
        </p:blipFill>
        <p:spPr>
          <a:xfrm>
            <a:off x="4501957" y="3601273"/>
            <a:ext cx="460126" cy="460126"/>
          </a:xfrm>
          <a:prstGeom prst="rect">
            <a:avLst/>
          </a:prstGeom>
        </p:spPr>
      </p:pic>
      <p:sp>
        <p:nvSpPr>
          <p:cNvPr id="15" name="Text 11"/>
          <p:cNvSpPr/>
          <p:nvPr/>
        </p:nvSpPr>
        <p:spPr>
          <a:xfrm>
            <a:off x="3611880" y="4297680"/>
            <a:ext cx="2240280" cy="36576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2. Isolate Foreground</a:t>
            </a:r>
            <a:endParaRPr lang="en-US" sz="1300" dirty="0"/>
          </a:p>
        </p:txBody>
      </p:sp>
      <p:sp>
        <p:nvSpPr>
          <p:cNvPr id="16" name="Text 12"/>
          <p:cNvSpPr/>
          <p:nvPr/>
        </p:nvSpPr>
        <p:spPr>
          <a:xfrm>
            <a:off x="3611880" y="4709160"/>
            <a:ext cx="2240280" cy="1005840"/>
          </a:xfrm>
          <a:prstGeom prst="rect">
            <a:avLst/>
          </a:prstGeom>
          <a:noFill/>
          <a:ln/>
        </p:spPr>
        <p:txBody>
          <a:bodyPr wrap="square" rtlCol="0" anchor="ctr"/>
          <a:lstStyle/>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Identify non-background</a:t>
            </a:r>
            <a:endParaRPr lang="en-US" sz="1100" dirty="0"/>
          </a:p>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pixels per instrument</a:t>
            </a:r>
            <a:endParaRPr lang="en-US" sz="1100" dirty="0"/>
          </a:p>
        </p:txBody>
      </p:sp>
      <p:sp>
        <p:nvSpPr>
          <p:cNvPr id="17" name="Text 13"/>
          <p:cNvSpPr/>
          <p:nvPr/>
        </p:nvSpPr>
        <p:spPr>
          <a:xfrm>
            <a:off x="5971032" y="4343400"/>
            <a:ext cx="356616" cy="457200"/>
          </a:xfrm>
          <a:prstGeom prst="rect">
            <a:avLst/>
          </a:prstGeom>
          <a:noFill/>
          <a:ln/>
        </p:spPr>
        <p:txBody>
          <a:bodyPr wrap="square" rtlCol="0" anchor="ctr"/>
          <a:lstStyle/>
          <a:p>
            <a:pPr algn="ctr" indent="0" marL="0">
              <a:buNone/>
            </a:pPr>
            <a:r>
              <a:rPr lang="en-US" sz="2000" b="1" dirty="0">
                <a:solidFill>
                  <a:srgbClr val="F2A65A"/>
                </a:solidFill>
              </a:rPr>
              <a:t>→</a:t>
            </a:r>
            <a:endParaRPr lang="en-US" sz="2000" dirty="0"/>
          </a:p>
        </p:txBody>
      </p:sp>
      <p:sp>
        <p:nvSpPr>
          <p:cNvPr id="18" name="Shape 14"/>
          <p:cNvSpPr/>
          <p:nvPr/>
        </p:nvSpPr>
        <p:spPr>
          <a:xfrm>
            <a:off x="6309360" y="3246120"/>
            <a:ext cx="2514600" cy="2651760"/>
          </a:xfrm>
          <a:prstGeom prst="roundRect">
            <a:avLst>
              <a:gd name="adj" fmla="val 3636"/>
            </a:avLst>
          </a:prstGeom>
          <a:solidFill>
            <a:srgbClr val="F6F8FA"/>
          </a:solidFill>
          <a:ln w="12700">
            <a:solidFill>
              <a:srgbClr val="E3E8EE"/>
            </a:solidFill>
            <a:prstDash val="solid"/>
          </a:ln>
        </p:spPr>
      </p:sp>
      <p:sp>
        <p:nvSpPr>
          <p:cNvPr id="19" name="Shape 15"/>
          <p:cNvSpPr/>
          <p:nvPr/>
        </p:nvSpPr>
        <p:spPr>
          <a:xfrm>
            <a:off x="7255764" y="3520440"/>
            <a:ext cx="621792" cy="621792"/>
          </a:xfrm>
          <a:prstGeom prst="ellipse">
            <a:avLst/>
          </a:prstGeom>
          <a:solidFill>
            <a:srgbClr val="0B3D62"/>
          </a:solidFill>
          <a:ln/>
        </p:spPr>
      </p:sp>
      <p:pic>
        <p:nvPicPr>
          <p:cNvPr id="20" name="Image 2" descr="icons/crosshairs_white.png">    </p:cNvPr>
          <p:cNvPicPr>
            <a:picLocks noChangeAspect="1"/>
          </p:cNvPicPr>
          <p:nvPr/>
        </p:nvPicPr>
        <p:blipFill>
          <a:blip r:embed="rId3"/>
          <a:stretch>
            <a:fillRect/>
          </a:stretch>
        </p:blipFill>
        <p:spPr>
          <a:xfrm>
            <a:off x="7336597" y="3601273"/>
            <a:ext cx="460126" cy="460126"/>
          </a:xfrm>
          <a:prstGeom prst="rect">
            <a:avLst/>
          </a:prstGeom>
        </p:spPr>
      </p:pic>
      <p:sp>
        <p:nvSpPr>
          <p:cNvPr id="21" name="Text 16"/>
          <p:cNvSpPr/>
          <p:nvPr/>
        </p:nvSpPr>
        <p:spPr>
          <a:xfrm>
            <a:off x="6446520" y="4297680"/>
            <a:ext cx="2240280" cy="36576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3. Compute Min/Max X, Y</a:t>
            </a:r>
            <a:endParaRPr lang="en-US" sz="1300" dirty="0"/>
          </a:p>
        </p:txBody>
      </p:sp>
      <p:sp>
        <p:nvSpPr>
          <p:cNvPr id="22" name="Text 17"/>
          <p:cNvSpPr/>
          <p:nvPr/>
        </p:nvSpPr>
        <p:spPr>
          <a:xfrm>
            <a:off x="6446520" y="4709160"/>
            <a:ext cx="2240280" cy="1005840"/>
          </a:xfrm>
          <a:prstGeom prst="rect">
            <a:avLst/>
          </a:prstGeom>
          <a:noFill/>
          <a:ln/>
        </p:spPr>
        <p:txBody>
          <a:bodyPr wrap="square" rtlCol="0" anchor="ctr"/>
          <a:lstStyle/>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Derive the tightest</a:t>
            </a:r>
            <a:endParaRPr lang="en-US" sz="1100" dirty="0"/>
          </a:p>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enclosing bounding box</a:t>
            </a:r>
            <a:endParaRPr lang="en-US" sz="1100" dirty="0"/>
          </a:p>
        </p:txBody>
      </p:sp>
      <p:sp>
        <p:nvSpPr>
          <p:cNvPr id="23" name="Text 18"/>
          <p:cNvSpPr/>
          <p:nvPr/>
        </p:nvSpPr>
        <p:spPr>
          <a:xfrm>
            <a:off x="8805672" y="4343400"/>
            <a:ext cx="356616" cy="457200"/>
          </a:xfrm>
          <a:prstGeom prst="rect">
            <a:avLst/>
          </a:prstGeom>
          <a:noFill/>
          <a:ln/>
        </p:spPr>
        <p:txBody>
          <a:bodyPr wrap="square" rtlCol="0" anchor="ctr"/>
          <a:lstStyle/>
          <a:p>
            <a:pPr algn="ctr" indent="0" marL="0">
              <a:buNone/>
            </a:pPr>
            <a:r>
              <a:rPr lang="en-US" sz="2000" b="1" dirty="0">
                <a:solidFill>
                  <a:srgbClr val="F2A65A"/>
                </a:solidFill>
              </a:rPr>
              <a:t>→</a:t>
            </a:r>
            <a:endParaRPr lang="en-US" sz="2000" dirty="0"/>
          </a:p>
        </p:txBody>
      </p:sp>
      <p:sp>
        <p:nvSpPr>
          <p:cNvPr id="24" name="Shape 19"/>
          <p:cNvSpPr/>
          <p:nvPr/>
        </p:nvSpPr>
        <p:spPr>
          <a:xfrm>
            <a:off x="9144000" y="3246120"/>
            <a:ext cx="2514600" cy="2651760"/>
          </a:xfrm>
          <a:prstGeom prst="roundRect">
            <a:avLst>
              <a:gd name="adj" fmla="val 3636"/>
            </a:avLst>
          </a:prstGeom>
          <a:solidFill>
            <a:srgbClr val="F6F8FA"/>
          </a:solidFill>
          <a:ln w="12700">
            <a:solidFill>
              <a:srgbClr val="E3E8EE"/>
            </a:solidFill>
            <a:prstDash val="solid"/>
          </a:ln>
        </p:spPr>
      </p:sp>
      <p:sp>
        <p:nvSpPr>
          <p:cNvPr id="25" name="Shape 20"/>
          <p:cNvSpPr/>
          <p:nvPr/>
        </p:nvSpPr>
        <p:spPr>
          <a:xfrm>
            <a:off x="10090404" y="3520440"/>
            <a:ext cx="621792" cy="621792"/>
          </a:xfrm>
          <a:prstGeom prst="ellipse">
            <a:avLst/>
          </a:prstGeom>
          <a:solidFill>
            <a:srgbClr val="0B3D62"/>
          </a:solidFill>
          <a:ln/>
        </p:spPr>
      </p:sp>
      <p:pic>
        <p:nvPicPr>
          <p:cNvPr id="26" name="Image 3" descr="icons/database_white.png">    </p:cNvPr>
          <p:cNvPicPr>
            <a:picLocks noChangeAspect="1"/>
          </p:cNvPicPr>
          <p:nvPr/>
        </p:nvPicPr>
        <p:blipFill>
          <a:blip r:embed="rId4"/>
          <a:stretch>
            <a:fillRect/>
          </a:stretch>
        </p:blipFill>
        <p:spPr>
          <a:xfrm>
            <a:off x="10171237" y="3601273"/>
            <a:ext cx="460126" cy="460126"/>
          </a:xfrm>
          <a:prstGeom prst="rect">
            <a:avLst/>
          </a:prstGeom>
        </p:spPr>
      </p:pic>
      <p:sp>
        <p:nvSpPr>
          <p:cNvPr id="27" name="Text 21"/>
          <p:cNvSpPr/>
          <p:nvPr/>
        </p:nvSpPr>
        <p:spPr>
          <a:xfrm>
            <a:off x="9281160" y="4297680"/>
            <a:ext cx="2240280" cy="365760"/>
          </a:xfrm>
          <a:prstGeom prst="rect">
            <a:avLst/>
          </a:prstGeom>
          <a:noFill/>
          <a:ln/>
        </p:spPr>
        <p:txBody>
          <a:bodyPr wrap="square" rtlCol="0" anchor="ctr"/>
          <a:lstStyle/>
          <a:p>
            <a:pPr algn="ctr" indent="0" marL="0">
              <a:buNone/>
            </a:pPr>
            <a:r>
              <a:rPr lang="en-US" sz="1300" b="1" dirty="0">
                <a:solidFill>
                  <a:srgbClr val="0B3D62"/>
                </a:solidFill>
                <a:latin typeface="Calibri" pitchFamily="34" charset="0"/>
                <a:ea typeface="Calibri" pitchFamily="34" charset="-122"/>
                <a:cs typeface="Calibri" pitchFamily="34" charset="-120"/>
              </a:rPr>
              <a:t>4. Synthetic YOLO Label</a:t>
            </a:r>
            <a:endParaRPr lang="en-US" sz="1300" dirty="0"/>
          </a:p>
        </p:txBody>
      </p:sp>
      <p:sp>
        <p:nvSpPr>
          <p:cNvPr id="28" name="Text 22"/>
          <p:cNvSpPr/>
          <p:nvPr/>
        </p:nvSpPr>
        <p:spPr>
          <a:xfrm>
            <a:off x="9281160" y="4709160"/>
            <a:ext cx="2240280" cy="1005840"/>
          </a:xfrm>
          <a:prstGeom prst="rect">
            <a:avLst/>
          </a:prstGeom>
          <a:noFill/>
          <a:ln/>
        </p:spPr>
        <p:txBody>
          <a:bodyPr wrap="square" rtlCol="0" anchor="ctr"/>
          <a:lstStyle/>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Auto-generated annotation</a:t>
            </a:r>
            <a:endParaRPr lang="en-US" sz="1100" dirty="0"/>
          </a:p>
          <a:p>
            <a:pPr algn="ctr" indent="0" marL="0">
              <a:lnSpc>
                <a:spcPts val="1400"/>
              </a:lnSpc>
              <a:buNone/>
            </a:pPr>
            <a:r>
              <a:rPr lang="en-US" sz="1100" dirty="0">
                <a:solidFill>
                  <a:srgbClr val="5B6673"/>
                </a:solidFill>
                <a:latin typeface="Calibri" pitchFamily="34" charset="0"/>
                <a:ea typeface="Calibri" pitchFamily="34" charset="-122"/>
                <a:cs typeface="Calibri" pitchFamily="34" charset="-120"/>
              </a:rPr>
              <a:t>ready for detector training</a:t>
            </a:r>
            <a:endParaRPr lang="en-US" sz="1100" dirty="0"/>
          </a:p>
        </p:txBody>
      </p:sp>
      <p:sp>
        <p:nvSpPr>
          <p:cNvPr id="29" name="Text 23"/>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0" name="Text 24"/>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PERCEPTION · DETECTION</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2700" b="1" dirty="0">
                <a:solidFill>
                  <a:srgbClr val="1B1F24"/>
                </a:solidFill>
                <a:latin typeface="Cambria" pitchFamily="34" charset="0"/>
                <a:ea typeface="Cambria" pitchFamily="34" charset="-122"/>
                <a:cs typeface="Cambria" pitchFamily="34" charset="-120"/>
              </a:rPr>
              <a:t>Surgical Instrument Detection Using YOLO</a:t>
            </a:r>
            <a:endParaRPr lang="en-US" sz="2700" dirty="0"/>
          </a:p>
        </p:txBody>
      </p:sp>
      <p:sp>
        <p:nvSpPr>
          <p:cNvPr id="4" name="Shape 2"/>
          <p:cNvSpPr/>
          <p:nvPr/>
        </p:nvSpPr>
        <p:spPr>
          <a:xfrm>
            <a:off x="640080" y="1691640"/>
            <a:ext cx="5212080" cy="4343400"/>
          </a:xfrm>
          <a:prstGeom prst="roundRect">
            <a:avLst>
              <a:gd name="adj" fmla="val 2526"/>
            </a:avLst>
          </a:prstGeom>
          <a:solidFill>
            <a:srgbClr val="071F33"/>
          </a:solidFill>
          <a:ln/>
        </p:spPr>
      </p:sp>
      <p:sp>
        <p:nvSpPr>
          <p:cNvPr id="5" name="Text 3"/>
          <p:cNvSpPr/>
          <p:nvPr/>
        </p:nvSpPr>
        <p:spPr>
          <a:xfrm>
            <a:off x="868680" y="1856232"/>
            <a:ext cx="4754880" cy="274320"/>
          </a:xfrm>
          <a:prstGeom prst="rect">
            <a:avLst/>
          </a:prstGeom>
          <a:noFill/>
          <a:ln/>
        </p:spPr>
        <p:txBody>
          <a:bodyPr wrap="square" rtlCol="0" anchor="ctr"/>
          <a:lstStyle/>
          <a:p>
            <a:pPr indent="0" marL="0">
              <a:buNone/>
            </a:pPr>
            <a:r>
              <a:rPr lang="en-US" sz="1000" spc="150" kern="0" dirty="0">
                <a:solidFill>
                  <a:srgbClr val="8FA6BA"/>
                </a:solidFill>
                <a:latin typeface="Calibri" pitchFamily="34" charset="0"/>
                <a:ea typeface="Calibri" pitchFamily="34" charset="-122"/>
                <a:cs typeface="Calibri" pitchFamily="34" charset="-120"/>
              </a:rPr>
              <a:t>SIMULATED DETECTION OUTPUT</a:t>
            </a:r>
            <a:endParaRPr lang="en-US" sz="1000" dirty="0"/>
          </a:p>
        </p:txBody>
      </p:sp>
      <p:sp>
        <p:nvSpPr>
          <p:cNvPr id="6" name="Shape 4"/>
          <p:cNvSpPr/>
          <p:nvPr/>
        </p:nvSpPr>
        <p:spPr>
          <a:xfrm>
            <a:off x="1188720" y="2468880"/>
            <a:ext cx="4114800" cy="2971800"/>
          </a:xfrm>
          <a:prstGeom prst="roundRect">
            <a:avLst>
              <a:gd name="adj" fmla="val 2462"/>
            </a:avLst>
          </a:prstGeom>
          <a:solidFill>
            <a:srgbClr val="13324A"/>
          </a:solidFill>
          <a:ln w="12700">
            <a:solidFill>
              <a:srgbClr val="234A63"/>
            </a:solidFill>
            <a:prstDash val="solid"/>
          </a:ln>
        </p:spPr>
      </p:sp>
      <p:sp>
        <p:nvSpPr>
          <p:cNvPr id="7" name="Shape 5"/>
          <p:cNvSpPr/>
          <p:nvPr/>
        </p:nvSpPr>
        <p:spPr>
          <a:xfrm rot="-1080000">
            <a:off x="1645920" y="3063240"/>
            <a:ext cx="2651760" cy="384048"/>
          </a:xfrm>
          <a:prstGeom prst="roundRect">
            <a:avLst>
              <a:gd name="adj" fmla="val 47619"/>
            </a:avLst>
          </a:prstGeom>
          <a:solidFill>
            <a:srgbClr val="6E7B87"/>
          </a:solidFill>
          <a:ln/>
        </p:spPr>
      </p:sp>
      <p:sp>
        <p:nvSpPr>
          <p:cNvPr id="8" name="Shape 6"/>
          <p:cNvSpPr/>
          <p:nvPr/>
        </p:nvSpPr>
        <p:spPr>
          <a:xfrm rot="1320000">
            <a:off x="3017520" y="4343400"/>
            <a:ext cx="2377440" cy="365760"/>
          </a:xfrm>
          <a:prstGeom prst="roundRect">
            <a:avLst>
              <a:gd name="adj" fmla="val 50000"/>
            </a:avLst>
          </a:prstGeom>
          <a:solidFill>
            <a:srgbClr val="8A96A0"/>
          </a:solidFill>
          <a:ln/>
        </p:spPr>
      </p:sp>
      <p:sp>
        <p:nvSpPr>
          <p:cNvPr id="9" name="Shape 7"/>
          <p:cNvSpPr/>
          <p:nvPr/>
        </p:nvSpPr>
        <p:spPr>
          <a:xfrm>
            <a:off x="1508760" y="2834640"/>
            <a:ext cx="2377440" cy="868680"/>
          </a:xfrm>
          <a:prstGeom prst="rect">
            <a:avLst/>
          </a:prstGeom>
          <a:ln w="28575">
            <a:solidFill>
              <a:srgbClr val="F2A65A"/>
            </a:solidFill>
            <a:prstDash val="solid"/>
          </a:ln>
        </p:spPr>
      </p:sp>
      <p:sp>
        <p:nvSpPr>
          <p:cNvPr id="10" name="Text 8"/>
          <p:cNvSpPr/>
          <p:nvPr/>
        </p:nvSpPr>
        <p:spPr>
          <a:xfrm>
            <a:off x="1508760" y="2633472"/>
            <a:ext cx="2377440" cy="228600"/>
          </a:xfrm>
          <a:prstGeom prst="rect">
            <a:avLst/>
          </a:prstGeom>
          <a:solidFill>
            <a:srgbClr val="F2A65A"/>
          </a:solidFill>
          <a:ln/>
        </p:spPr>
        <p:txBody>
          <a:bodyPr wrap="square" rtlCol="0" anchor="ctr"/>
          <a:lstStyle/>
          <a:p>
            <a:pPr algn="l" indent="0" marL="0">
              <a:buNone/>
            </a:pPr>
            <a:r>
              <a:rPr lang="en-US" sz="900" b="1" dirty="0">
                <a:solidFill>
                  <a:srgbClr val="071F33"/>
                </a:solidFill>
                <a:latin typeface="Calibri" pitchFamily="34" charset="0"/>
                <a:ea typeface="Calibri" pitchFamily="34" charset="-122"/>
                <a:cs typeface="Calibri" pitchFamily="34" charset="-120"/>
              </a:rPr>
              <a:t>instrument_1  0.94</a:t>
            </a:r>
            <a:endParaRPr lang="en-US" sz="900" dirty="0"/>
          </a:p>
        </p:txBody>
      </p:sp>
      <p:sp>
        <p:nvSpPr>
          <p:cNvPr id="11" name="Shape 9"/>
          <p:cNvSpPr/>
          <p:nvPr/>
        </p:nvSpPr>
        <p:spPr>
          <a:xfrm>
            <a:off x="2788920" y="4114800"/>
            <a:ext cx="2286000" cy="868680"/>
          </a:xfrm>
          <a:prstGeom prst="rect">
            <a:avLst/>
          </a:prstGeom>
          <a:ln w="28575">
            <a:solidFill>
              <a:srgbClr val="5FD3C4"/>
            </a:solidFill>
            <a:prstDash val="solid"/>
          </a:ln>
        </p:spPr>
      </p:sp>
      <p:sp>
        <p:nvSpPr>
          <p:cNvPr id="12" name="Text 10"/>
          <p:cNvSpPr/>
          <p:nvPr/>
        </p:nvSpPr>
        <p:spPr>
          <a:xfrm>
            <a:off x="2788920" y="3913632"/>
            <a:ext cx="2286000" cy="228600"/>
          </a:xfrm>
          <a:prstGeom prst="rect">
            <a:avLst/>
          </a:prstGeom>
          <a:solidFill>
            <a:srgbClr val="5FD3C4"/>
          </a:solidFill>
          <a:ln/>
        </p:spPr>
        <p:txBody>
          <a:bodyPr wrap="square" rtlCol="0" anchor="ctr"/>
          <a:lstStyle/>
          <a:p>
            <a:pPr algn="l" indent="0" marL="0">
              <a:buNone/>
            </a:pPr>
            <a:r>
              <a:rPr lang="en-US" sz="900" b="1" dirty="0">
                <a:solidFill>
                  <a:srgbClr val="071F33"/>
                </a:solidFill>
                <a:latin typeface="Calibri" pitchFamily="34" charset="0"/>
                <a:ea typeface="Calibri" pitchFamily="34" charset="-122"/>
                <a:cs typeface="Calibri" pitchFamily="34" charset="-120"/>
              </a:rPr>
              <a:t>instrument_2  0.89</a:t>
            </a:r>
            <a:endParaRPr lang="en-US" sz="900" dirty="0"/>
          </a:p>
        </p:txBody>
      </p:sp>
      <p:sp>
        <p:nvSpPr>
          <p:cNvPr id="13" name="Text 11"/>
          <p:cNvSpPr/>
          <p:nvPr/>
        </p:nvSpPr>
        <p:spPr>
          <a:xfrm>
            <a:off x="868680" y="5669280"/>
            <a:ext cx="4754880" cy="274320"/>
          </a:xfrm>
          <a:prstGeom prst="rect">
            <a:avLst/>
          </a:prstGeom>
          <a:noFill/>
          <a:ln/>
        </p:spPr>
        <p:txBody>
          <a:bodyPr wrap="square" rtlCol="0" anchor="ctr"/>
          <a:lstStyle/>
          <a:p>
            <a:pPr indent="0" marL="0">
              <a:buNone/>
            </a:pPr>
            <a:r>
              <a:rPr lang="en-US" sz="900" i="1" dirty="0">
                <a:solidFill>
                  <a:srgbClr val="6C8299"/>
                </a:solidFill>
                <a:latin typeface="Calibri" pitchFamily="34" charset="0"/>
                <a:ea typeface="Calibri" pitchFamily="34" charset="-122"/>
                <a:cs typeface="Calibri" pitchFamily="34" charset="-120"/>
              </a:rPr>
              <a:t>Illustrative rendering — bounding boxes derived from EndoVis2017 masks</a:t>
            </a:r>
            <a:endParaRPr lang="en-US" sz="900" dirty="0"/>
          </a:p>
        </p:txBody>
      </p:sp>
      <p:sp>
        <p:nvSpPr>
          <p:cNvPr id="14" name="Text 12"/>
          <p:cNvSpPr/>
          <p:nvPr/>
        </p:nvSpPr>
        <p:spPr>
          <a:xfrm>
            <a:off x="6172200" y="1783080"/>
            <a:ext cx="539496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Weakly-Supervised Detection Pipeline</a:t>
            </a:r>
            <a:endParaRPr lang="en-US" sz="1500" dirty="0"/>
          </a:p>
        </p:txBody>
      </p:sp>
      <p:sp>
        <p:nvSpPr>
          <p:cNvPr id="15" name="Shape 13"/>
          <p:cNvSpPr/>
          <p:nvPr/>
        </p:nvSpPr>
        <p:spPr>
          <a:xfrm>
            <a:off x="6172200" y="2286000"/>
            <a:ext cx="420624" cy="420624"/>
          </a:xfrm>
          <a:prstGeom prst="ellipse">
            <a:avLst/>
          </a:prstGeom>
          <a:solidFill>
            <a:srgbClr val="0B3D62"/>
          </a:solidFill>
          <a:ln/>
        </p:spPr>
      </p:sp>
      <p:pic>
        <p:nvPicPr>
          <p:cNvPr id="16" name="Image 0" descr="icons/crosshairs_white.png">    </p:cNvPr>
          <p:cNvPicPr>
            <a:picLocks noChangeAspect="1"/>
          </p:cNvPicPr>
          <p:nvPr/>
        </p:nvPicPr>
        <p:blipFill>
          <a:blip r:embed="rId1"/>
          <a:stretch>
            <a:fillRect/>
          </a:stretch>
        </p:blipFill>
        <p:spPr>
          <a:xfrm>
            <a:off x="6226881" y="2340681"/>
            <a:ext cx="311262" cy="311262"/>
          </a:xfrm>
          <a:prstGeom prst="rect">
            <a:avLst/>
          </a:prstGeom>
        </p:spPr>
      </p:pic>
      <p:sp>
        <p:nvSpPr>
          <p:cNvPr id="17" name="Text 14"/>
          <p:cNvSpPr/>
          <p:nvPr/>
        </p:nvSpPr>
        <p:spPr>
          <a:xfrm>
            <a:off x="6766560" y="2258568"/>
            <a:ext cx="4800600" cy="274320"/>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No manual boxes needed</a:t>
            </a:r>
            <a:endParaRPr lang="en-US" sz="1300" dirty="0"/>
          </a:p>
        </p:txBody>
      </p:sp>
      <p:sp>
        <p:nvSpPr>
          <p:cNvPr id="18" name="Text 15"/>
          <p:cNvSpPr/>
          <p:nvPr/>
        </p:nvSpPr>
        <p:spPr>
          <a:xfrm>
            <a:off x="6766560" y="2532888"/>
            <a:ext cx="4800600" cy="50292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Bounding boxes are derived directly from existing segmentation masks — no separate detection annotation pass.</a:t>
            </a:r>
            <a:endParaRPr lang="en-US" sz="1050" dirty="0"/>
          </a:p>
        </p:txBody>
      </p:sp>
      <p:sp>
        <p:nvSpPr>
          <p:cNvPr id="19" name="Shape 16"/>
          <p:cNvSpPr/>
          <p:nvPr/>
        </p:nvSpPr>
        <p:spPr>
          <a:xfrm>
            <a:off x="6172200" y="3218688"/>
            <a:ext cx="420624" cy="420624"/>
          </a:xfrm>
          <a:prstGeom prst="ellipse">
            <a:avLst/>
          </a:prstGeom>
          <a:solidFill>
            <a:srgbClr val="0B3D62"/>
          </a:solidFill>
          <a:ln/>
        </p:spPr>
      </p:sp>
      <p:pic>
        <p:nvPicPr>
          <p:cNvPr id="20" name="Image 1" descr="icons/crosshairs_white.png">    </p:cNvPr>
          <p:cNvPicPr>
            <a:picLocks noChangeAspect="1"/>
          </p:cNvPicPr>
          <p:nvPr/>
        </p:nvPicPr>
        <p:blipFill>
          <a:blip r:embed="rId2"/>
          <a:stretch>
            <a:fillRect/>
          </a:stretch>
        </p:blipFill>
        <p:spPr>
          <a:xfrm>
            <a:off x="6226881" y="3273369"/>
            <a:ext cx="311262" cy="311262"/>
          </a:xfrm>
          <a:prstGeom prst="rect">
            <a:avLst/>
          </a:prstGeom>
        </p:spPr>
      </p:pic>
      <p:sp>
        <p:nvSpPr>
          <p:cNvPr id="21" name="Text 17"/>
          <p:cNvSpPr/>
          <p:nvPr/>
        </p:nvSpPr>
        <p:spPr>
          <a:xfrm>
            <a:off x="6766560" y="3191256"/>
            <a:ext cx="4800600" cy="274320"/>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One box per instrument region</a:t>
            </a:r>
            <a:endParaRPr lang="en-US" sz="1300" dirty="0"/>
          </a:p>
        </p:txBody>
      </p:sp>
      <p:sp>
        <p:nvSpPr>
          <p:cNvPr id="22" name="Text 18"/>
          <p:cNvSpPr/>
          <p:nvPr/>
        </p:nvSpPr>
        <p:spPr>
          <a:xfrm>
            <a:off x="6766560" y="3465576"/>
            <a:ext cx="4800600" cy="50292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Each connected foreground region in a frame is treated as a distinct instrument to localize.</a:t>
            </a:r>
            <a:endParaRPr lang="en-US" sz="1050" dirty="0"/>
          </a:p>
        </p:txBody>
      </p:sp>
      <p:sp>
        <p:nvSpPr>
          <p:cNvPr id="23" name="Shape 19"/>
          <p:cNvSpPr/>
          <p:nvPr/>
        </p:nvSpPr>
        <p:spPr>
          <a:xfrm>
            <a:off x="6172200" y="4151376"/>
            <a:ext cx="420624" cy="420624"/>
          </a:xfrm>
          <a:prstGeom prst="ellipse">
            <a:avLst/>
          </a:prstGeom>
          <a:solidFill>
            <a:srgbClr val="0B3D62"/>
          </a:solidFill>
          <a:ln/>
        </p:spPr>
      </p:sp>
      <p:pic>
        <p:nvPicPr>
          <p:cNvPr id="24" name="Image 2" descr="icons/crosshairs_white.png">    </p:cNvPr>
          <p:cNvPicPr>
            <a:picLocks noChangeAspect="1"/>
          </p:cNvPicPr>
          <p:nvPr/>
        </p:nvPicPr>
        <p:blipFill>
          <a:blip r:embed="rId3"/>
          <a:stretch>
            <a:fillRect/>
          </a:stretch>
        </p:blipFill>
        <p:spPr>
          <a:xfrm>
            <a:off x="6226881" y="4206057"/>
            <a:ext cx="311262" cy="311262"/>
          </a:xfrm>
          <a:prstGeom prst="rect">
            <a:avLst/>
          </a:prstGeom>
        </p:spPr>
      </p:pic>
      <p:sp>
        <p:nvSpPr>
          <p:cNvPr id="25" name="Text 20"/>
          <p:cNvSpPr/>
          <p:nvPr/>
        </p:nvSpPr>
        <p:spPr>
          <a:xfrm>
            <a:off x="6766560" y="4123944"/>
            <a:ext cx="4800600" cy="274320"/>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Real-time inference target</a:t>
            </a:r>
            <a:endParaRPr lang="en-US" sz="1300" dirty="0"/>
          </a:p>
        </p:txBody>
      </p:sp>
      <p:sp>
        <p:nvSpPr>
          <p:cNvPr id="26" name="Text 21"/>
          <p:cNvSpPr/>
          <p:nvPr/>
        </p:nvSpPr>
        <p:spPr>
          <a:xfrm>
            <a:off x="6766560" y="4398264"/>
            <a:ext cx="4800600" cy="50292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The trained detector is designed to run inside the ROS 2 node alongside the U-Net segmenter.</a:t>
            </a:r>
            <a:endParaRPr lang="en-US" sz="1050" dirty="0"/>
          </a:p>
        </p:txBody>
      </p:sp>
      <p:sp>
        <p:nvSpPr>
          <p:cNvPr id="27" name="Shape 22"/>
          <p:cNvSpPr/>
          <p:nvPr/>
        </p:nvSpPr>
        <p:spPr>
          <a:xfrm>
            <a:off x="6172200" y="5084064"/>
            <a:ext cx="420624" cy="420624"/>
          </a:xfrm>
          <a:prstGeom prst="ellipse">
            <a:avLst/>
          </a:prstGeom>
          <a:solidFill>
            <a:srgbClr val="0B3D62"/>
          </a:solidFill>
          <a:ln/>
        </p:spPr>
      </p:sp>
      <p:pic>
        <p:nvPicPr>
          <p:cNvPr id="28" name="Image 3" descr="icons/crosshairs_white.png">    </p:cNvPr>
          <p:cNvPicPr>
            <a:picLocks noChangeAspect="1"/>
          </p:cNvPicPr>
          <p:nvPr/>
        </p:nvPicPr>
        <p:blipFill>
          <a:blip r:embed="rId4"/>
          <a:stretch>
            <a:fillRect/>
          </a:stretch>
        </p:blipFill>
        <p:spPr>
          <a:xfrm>
            <a:off x="6226881" y="5138745"/>
            <a:ext cx="311262" cy="311262"/>
          </a:xfrm>
          <a:prstGeom prst="rect">
            <a:avLst/>
          </a:prstGeom>
        </p:spPr>
      </p:pic>
      <p:sp>
        <p:nvSpPr>
          <p:cNvPr id="29" name="Text 23"/>
          <p:cNvSpPr/>
          <p:nvPr/>
        </p:nvSpPr>
        <p:spPr>
          <a:xfrm>
            <a:off x="6766560" y="5056632"/>
            <a:ext cx="4800600" cy="274320"/>
          </a:xfrm>
          <a:prstGeom prst="rect">
            <a:avLst/>
          </a:prstGeom>
          <a:noFill/>
          <a:ln/>
        </p:spPr>
        <p:txBody>
          <a:bodyPr wrap="square"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Feeds motion planning</a:t>
            </a:r>
            <a:endParaRPr lang="en-US" sz="1300" dirty="0"/>
          </a:p>
        </p:txBody>
      </p:sp>
      <p:sp>
        <p:nvSpPr>
          <p:cNvPr id="30" name="Text 24"/>
          <p:cNvSpPr/>
          <p:nvPr/>
        </p:nvSpPr>
        <p:spPr>
          <a:xfrm>
            <a:off x="6766560" y="5330952"/>
            <a:ext cx="4800600" cy="502920"/>
          </a:xfrm>
          <a:prstGeom prst="rect">
            <a:avLst/>
          </a:prstGeom>
          <a:noFill/>
          <a:ln/>
        </p:spPr>
        <p:txBody>
          <a:bodyPr wrap="square" rtlCol="0" anchor="ctr"/>
          <a:lstStyle/>
          <a:p>
            <a:pPr indent="0" marL="0">
              <a:lnSpc>
                <a:spcPts val="1300"/>
              </a:lnSpc>
              <a:buNone/>
            </a:pPr>
            <a:r>
              <a:rPr lang="en-US" sz="1050" dirty="0">
                <a:solidFill>
                  <a:srgbClr val="5B6673"/>
                </a:solidFill>
                <a:latin typeface="Calibri" pitchFamily="34" charset="0"/>
                <a:ea typeface="Calibri" pitchFamily="34" charset="-122"/>
                <a:cs typeface="Calibri" pitchFamily="34" charset="-120"/>
              </a:rPr>
              <a:t>Detected instrument location and confidence pass downstream to the control layer.</a:t>
            </a:r>
            <a:endParaRPr lang="en-US" sz="1050" dirty="0"/>
          </a:p>
        </p:txBody>
      </p:sp>
      <p:sp>
        <p:nvSpPr>
          <p:cNvPr id="31" name="Text 25"/>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2" name="Text 26"/>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PERCEPTION · SEGMENTATION</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2700" b="1" dirty="0">
                <a:solidFill>
                  <a:srgbClr val="1B1F24"/>
                </a:solidFill>
                <a:latin typeface="Cambria" pitchFamily="34" charset="0"/>
                <a:ea typeface="Cambria" pitchFamily="34" charset="-122"/>
                <a:cs typeface="Cambria" pitchFamily="34" charset="-120"/>
              </a:rPr>
              <a:t>Tissue and Target Segmentation Using U-Net</a:t>
            </a:r>
            <a:endParaRPr lang="en-US" sz="2700" dirty="0"/>
          </a:p>
        </p:txBody>
      </p:sp>
      <p:sp>
        <p:nvSpPr>
          <p:cNvPr id="4" name="Shape 2"/>
          <p:cNvSpPr/>
          <p:nvPr/>
        </p:nvSpPr>
        <p:spPr>
          <a:xfrm>
            <a:off x="548640" y="1325880"/>
            <a:ext cx="5257800" cy="3566160"/>
          </a:xfrm>
          <a:prstGeom prst="roundRect">
            <a:avLst>
              <a:gd name="adj" fmla="val 3590"/>
            </a:avLst>
          </a:prstGeom>
          <a:solidFill>
            <a:srgbClr val="F6F8FA"/>
          </a:solidFill>
          <a:ln w="12700">
            <a:solidFill>
              <a:srgbClr val="E3E8EE"/>
            </a:solidFill>
            <a:prstDash val="solid"/>
          </a:ln>
        </p:spPr>
      </p:sp>
      <p:sp>
        <p:nvSpPr>
          <p:cNvPr id="5" name="Text 3"/>
          <p:cNvSpPr/>
          <p:nvPr/>
        </p:nvSpPr>
        <p:spPr>
          <a:xfrm>
            <a:off x="777240" y="1463040"/>
            <a:ext cx="4800600" cy="27432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U-Net Encoder–Decoder Architecture</a:t>
            </a:r>
            <a:endParaRPr lang="en-US" sz="1200" dirty="0"/>
          </a:p>
        </p:txBody>
      </p:sp>
      <p:sp>
        <p:nvSpPr>
          <p:cNvPr id="6" name="Shape 4"/>
          <p:cNvSpPr/>
          <p:nvPr/>
        </p:nvSpPr>
        <p:spPr>
          <a:xfrm>
            <a:off x="868680" y="2880360"/>
            <a:ext cx="384048" cy="1234440"/>
          </a:xfrm>
          <a:prstGeom prst="roundRect">
            <a:avLst>
              <a:gd name="adj" fmla="val 7143"/>
            </a:avLst>
          </a:prstGeom>
          <a:solidFill>
            <a:srgbClr val="1C8FA0"/>
          </a:solidFill>
          <a:ln w="9525">
            <a:solidFill>
              <a:srgbClr val="FFFFFF"/>
            </a:solidFill>
            <a:prstDash val="solid"/>
          </a:ln>
        </p:spPr>
      </p:sp>
      <p:sp>
        <p:nvSpPr>
          <p:cNvPr id="7" name="Text 5"/>
          <p:cNvSpPr/>
          <p:nvPr/>
        </p:nvSpPr>
        <p:spPr>
          <a:xfrm>
            <a:off x="740664" y="4187952"/>
            <a:ext cx="640080" cy="201168"/>
          </a:xfrm>
          <a:prstGeom prst="rect">
            <a:avLst/>
          </a:prstGeom>
          <a:noFill/>
          <a:ln/>
        </p:spPr>
        <p:txBody>
          <a:bodyPr wrap="square"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512²</a:t>
            </a:r>
            <a:endParaRPr lang="en-US" sz="800" dirty="0"/>
          </a:p>
        </p:txBody>
      </p:sp>
      <p:sp>
        <p:nvSpPr>
          <p:cNvPr id="8" name="Shape 6"/>
          <p:cNvSpPr/>
          <p:nvPr/>
        </p:nvSpPr>
        <p:spPr>
          <a:xfrm>
            <a:off x="1344168" y="3182112"/>
            <a:ext cx="384048" cy="932688"/>
          </a:xfrm>
          <a:prstGeom prst="roundRect">
            <a:avLst>
              <a:gd name="adj" fmla="val 7143"/>
            </a:avLst>
          </a:prstGeom>
          <a:solidFill>
            <a:srgbClr val="1C8FA0"/>
          </a:solidFill>
          <a:ln w="9525">
            <a:solidFill>
              <a:srgbClr val="FFFFFF"/>
            </a:solidFill>
            <a:prstDash val="solid"/>
          </a:ln>
        </p:spPr>
      </p:sp>
      <p:sp>
        <p:nvSpPr>
          <p:cNvPr id="9" name="Text 7"/>
          <p:cNvSpPr/>
          <p:nvPr/>
        </p:nvSpPr>
        <p:spPr>
          <a:xfrm>
            <a:off x="1216152" y="4187952"/>
            <a:ext cx="640080" cy="201168"/>
          </a:xfrm>
          <a:prstGeom prst="rect">
            <a:avLst/>
          </a:prstGeom>
          <a:noFill/>
          <a:ln/>
        </p:spPr>
        <p:txBody>
          <a:bodyPr wrap="square"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256²</a:t>
            </a:r>
            <a:endParaRPr lang="en-US" sz="800" dirty="0"/>
          </a:p>
        </p:txBody>
      </p:sp>
      <p:sp>
        <p:nvSpPr>
          <p:cNvPr id="10" name="Shape 8"/>
          <p:cNvSpPr/>
          <p:nvPr/>
        </p:nvSpPr>
        <p:spPr>
          <a:xfrm>
            <a:off x="1819656" y="3429000"/>
            <a:ext cx="384048" cy="685800"/>
          </a:xfrm>
          <a:prstGeom prst="roundRect">
            <a:avLst>
              <a:gd name="adj" fmla="val 7143"/>
            </a:avLst>
          </a:prstGeom>
          <a:solidFill>
            <a:srgbClr val="1C8FA0"/>
          </a:solidFill>
          <a:ln w="9525">
            <a:solidFill>
              <a:srgbClr val="FFFFFF"/>
            </a:solidFill>
            <a:prstDash val="solid"/>
          </a:ln>
        </p:spPr>
      </p:sp>
      <p:sp>
        <p:nvSpPr>
          <p:cNvPr id="11" name="Text 9"/>
          <p:cNvSpPr/>
          <p:nvPr/>
        </p:nvSpPr>
        <p:spPr>
          <a:xfrm>
            <a:off x="1691640" y="4187952"/>
            <a:ext cx="640080" cy="201168"/>
          </a:xfrm>
          <a:prstGeom prst="rect">
            <a:avLst/>
          </a:prstGeom>
          <a:noFill/>
          <a:ln/>
        </p:spPr>
        <p:txBody>
          <a:bodyPr wrap="square"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128²</a:t>
            </a:r>
            <a:endParaRPr lang="en-US" sz="800" dirty="0"/>
          </a:p>
        </p:txBody>
      </p:sp>
      <p:sp>
        <p:nvSpPr>
          <p:cNvPr id="12" name="Shape 10"/>
          <p:cNvSpPr/>
          <p:nvPr/>
        </p:nvSpPr>
        <p:spPr>
          <a:xfrm>
            <a:off x="2295144" y="3657600"/>
            <a:ext cx="384048" cy="457200"/>
          </a:xfrm>
          <a:prstGeom prst="roundRect">
            <a:avLst>
              <a:gd name="adj" fmla="val 7143"/>
            </a:avLst>
          </a:prstGeom>
          <a:solidFill>
            <a:srgbClr val="1C8FA0"/>
          </a:solidFill>
          <a:ln w="9525">
            <a:solidFill>
              <a:srgbClr val="FFFFFF"/>
            </a:solidFill>
            <a:prstDash val="solid"/>
          </a:ln>
        </p:spPr>
      </p:sp>
      <p:sp>
        <p:nvSpPr>
          <p:cNvPr id="13" name="Text 11"/>
          <p:cNvSpPr/>
          <p:nvPr/>
        </p:nvSpPr>
        <p:spPr>
          <a:xfrm>
            <a:off x="2167128" y="4187952"/>
            <a:ext cx="640080" cy="201168"/>
          </a:xfrm>
          <a:prstGeom prst="rect">
            <a:avLst/>
          </a:prstGeom>
          <a:noFill/>
          <a:ln/>
        </p:spPr>
        <p:txBody>
          <a:bodyPr wrap="square" rtlCol="0" anchor="ctr"/>
          <a:lstStyle/>
          <a:p>
            <a:pPr algn="ctr" indent="0" marL="0">
              <a:buNone/>
            </a:pPr>
            <a:r>
              <a:rPr lang="en-US" sz="800" dirty="0">
                <a:solidFill>
                  <a:srgbClr val="5B6673"/>
                </a:solidFill>
                <a:latin typeface="Calibri" pitchFamily="34" charset="0"/>
                <a:ea typeface="Calibri" pitchFamily="34" charset="-122"/>
                <a:cs typeface="Calibri" pitchFamily="34" charset="-120"/>
              </a:rPr>
              <a:t>64²</a:t>
            </a:r>
            <a:endParaRPr lang="en-US" sz="800" dirty="0"/>
          </a:p>
        </p:txBody>
      </p:sp>
      <p:sp>
        <p:nvSpPr>
          <p:cNvPr id="14" name="Shape 12"/>
          <p:cNvSpPr/>
          <p:nvPr/>
        </p:nvSpPr>
        <p:spPr>
          <a:xfrm>
            <a:off x="2770632" y="3803904"/>
            <a:ext cx="384048" cy="310896"/>
          </a:xfrm>
          <a:prstGeom prst="roundRect">
            <a:avLst>
              <a:gd name="adj" fmla="val 8824"/>
            </a:avLst>
          </a:prstGeom>
          <a:solidFill>
            <a:srgbClr val="071F33"/>
          </a:solidFill>
          <a:ln w="9525">
            <a:solidFill>
              <a:srgbClr val="FFFFFF"/>
            </a:solidFill>
            <a:prstDash val="solid"/>
          </a:ln>
        </p:spPr>
      </p:sp>
      <p:sp>
        <p:nvSpPr>
          <p:cNvPr id="15" name="Shape 13"/>
          <p:cNvSpPr/>
          <p:nvPr/>
        </p:nvSpPr>
        <p:spPr>
          <a:xfrm>
            <a:off x="3246120" y="3657600"/>
            <a:ext cx="384048" cy="457200"/>
          </a:xfrm>
          <a:prstGeom prst="roundRect">
            <a:avLst>
              <a:gd name="adj" fmla="val 7143"/>
            </a:avLst>
          </a:prstGeom>
          <a:solidFill>
            <a:srgbClr val="F2A65A"/>
          </a:solidFill>
          <a:ln w="9525">
            <a:solidFill>
              <a:srgbClr val="FFFFFF"/>
            </a:solidFill>
            <a:prstDash val="solid"/>
          </a:ln>
        </p:spPr>
      </p:sp>
      <p:sp>
        <p:nvSpPr>
          <p:cNvPr id="16" name="Shape 14"/>
          <p:cNvSpPr/>
          <p:nvPr/>
        </p:nvSpPr>
        <p:spPr>
          <a:xfrm>
            <a:off x="2679192" y="3657600"/>
            <a:ext cx="566928" cy="0"/>
          </a:xfrm>
          <a:prstGeom prst="line">
            <a:avLst/>
          </a:prstGeom>
          <a:noFill/>
          <a:ln w="12700">
            <a:solidFill>
              <a:srgbClr val="C7D2DC"/>
            </a:solidFill>
            <a:prstDash val="dash"/>
          </a:ln>
        </p:spPr>
      </p:sp>
      <p:sp>
        <p:nvSpPr>
          <p:cNvPr id="17" name="Shape 15"/>
          <p:cNvSpPr/>
          <p:nvPr/>
        </p:nvSpPr>
        <p:spPr>
          <a:xfrm>
            <a:off x="3721608" y="3429000"/>
            <a:ext cx="384048" cy="685800"/>
          </a:xfrm>
          <a:prstGeom prst="roundRect">
            <a:avLst>
              <a:gd name="adj" fmla="val 7143"/>
            </a:avLst>
          </a:prstGeom>
          <a:solidFill>
            <a:srgbClr val="F2A65A"/>
          </a:solidFill>
          <a:ln w="9525">
            <a:solidFill>
              <a:srgbClr val="FFFFFF"/>
            </a:solidFill>
            <a:prstDash val="solid"/>
          </a:ln>
        </p:spPr>
      </p:sp>
      <p:sp>
        <p:nvSpPr>
          <p:cNvPr id="18" name="Shape 16"/>
          <p:cNvSpPr/>
          <p:nvPr/>
        </p:nvSpPr>
        <p:spPr>
          <a:xfrm>
            <a:off x="2203704" y="3429000"/>
            <a:ext cx="1517904" cy="0"/>
          </a:xfrm>
          <a:prstGeom prst="line">
            <a:avLst/>
          </a:prstGeom>
          <a:noFill/>
          <a:ln w="12700">
            <a:solidFill>
              <a:srgbClr val="C7D2DC"/>
            </a:solidFill>
            <a:prstDash val="dash"/>
          </a:ln>
        </p:spPr>
      </p:sp>
      <p:sp>
        <p:nvSpPr>
          <p:cNvPr id="19" name="Shape 17"/>
          <p:cNvSpPr/>
          <p:nvPr/>
        </p:nvSpPr>
        <p:spPr>
          <a:xfrm>
            <a:off x="4197096" y="3182112"/>
            <a:ext cx="384048" cy="932688"/>
          </a:xfrm>
          <a:prstGeom prst="roundRect">
            <a:avLst>
              <a:gd name="adj" fmla="val 7143"/>
            </a:avLst>
          </a:prstGeom>
          <a:solidFill>
            <a:srgbClr val="F2A65A"/>
          </a:solidFill>
          <a:ln w="9525">
            <a:solidFill>
              <a:srgbClr val="FFFFFF"/>
            </a:solidFill>
            <a:prstDash val="solid"/>
          </a:ln>
        </p:spPr>
      </p:sp>
      <p:sp>
        <p:nvSpPr>
          <p:cNvPr id="20" name="Shape 18"/>
          <p:cNvSpPr/>
          <p:nvPr/>
        </p:nvSpPr>
        <p:spPr>
          <a:xfrm>
            <a:off x="1728216" y="3182112"/>
            <a:ext cx="2468880" cy="0"/>
          </a:xfrm>
          <a:prstGeom prst="line">
            <a:avLst/>
          </a:prstGeom>
          <a:noFill/>
          <a:ln w="12700">
            <a:solidFill>
              <a:srgbClr val="C7D2DC"/>
            </a:solidFill>
            <a:prstDash val="dash"/>
          </a:ln>
        </p:spPr>
      </p:sp>
      <p:sp>
        <p:nvSpPr>
          <p:cNvPr id="21" name="Shape 19"/>
          <p:cNvSpPr/>
          <p:nvPr/>
        </p:nvSpPr>
        <p:spPr>
          <a:xfrm>
            <a:off x="4672584" y="2880360"/>
            <a:ext cx="384048" cy="1234440"/>
          </a:xfrm>
          <a:prstGeom prst="roundRect">
            <a:avLst>
              <a:gd name="adj" fmla="val 7143"/>
            </a:avLst>
          </a:prstGeom>
          <a:solidFill>
            <a:srgbClr val="F2A65A"/>
          </a:solidFill>
          <a:ln w="9525">
            <a:solidFill>
              <a:srgbClr val="FFFFFF"/>
            </a:solidFill>
            <a:prstDash val="solid"/>
          </a:ln>
        </p:spPr>
      </p:sp>
      <p:sp>
        <p:nvSpPr>
          <p:cNvPr id="22" name="Shape 20"/>
          <p:cNvSpPr/>
          <p:nvPr/>
        </p:nvSpPr>
        <p:spPr>
          <a:xfrm>
            <a:off x="1252728" y="2880360"/>
            <a:ext cx="3419856" cy="0"/>
          </a:xfrm>
          <a:prstGeom prst="line">
            <a:avLst/>
          </a:prstGeom>
          <a:noFill/>
          <a:ln w="12700">
            <a:solidFill>
              <a:srgbClr val="C7D2DC"/>
            </a:solidFill>
            <a:prstDash val="dash"/>
          </a:ln>
        </p:spPr>
      </p:sp>
      <p:sp>
        <p:nvSpPr>
          <p:cNvPr id="23" name="Shape 21"/>
          <p:cNvSpPr/>
          <p:nvPr/>
        </p:nvSpPr>
        <p:spPr>
          <a:xfrm>
            <a:off x="868680" y="4572000"/>
            <a:ext cx="118872" cy="118872"/>
          </a:xfrm>
          <a:prstGeom prst="ellipse">
            <a:avLst/>
          </a:prstGeom>
          <a:solidFill>
            <a:srgbClr val="1C8FA0"/>
          </a:solidFill>
          <a:ln/>
        </p:spPr>
      </p:sp>
      <p:sp>
        <p:nvSpPr>
          <p:cNvPr id="24" name="Text 22"/>
          <p:cNvSpPr/>
          <p:nvPr/>
        </p:nvSpPr>
        <p:spPr>
          <a:xfrm>
            <a:off x="1051560" y="4480560"/>
            <a:ext cx="2148840" cy="274320"/>
          </a:xfrm>
          <a:prstGeom prst="rect">
            <a:avLst/>
          </a:prstGeom>
          <a:noFill/>
          <a:ln/>
        </p:spPr>
        <p:txBody>
          <a:bodyPr wrap="square" rtlCol="0" anchor="ctr"/>
          <a:lstStyle/>
          <a:p>
            <a:pPr indent="0" marL="0">
              <a:buNone/>
            </a:pPr>
            <a:r>
              <a:rPr lang="en-US" sz="900" dirty="0">
                <a:solidFill>
                  <a:srgbClr val="5B6673"/>
                </a:solidFill>
                <a:latin typeface="Calibri" pitchFamily="34" charset="0"/>
                <a:ea typeface="Calibri" pitchFamily="34" charset="-122"/>
                <a:cs typeface="Calibri" pitchFamily="34" charset="-120"/>
              </a:rPr>
              <a:t>Encoder (downsampling)</a:t>
            </a:r>
            <a:endParaRPr lang="en-US" sz="900" dirty="0"/>
          </a:p>
        </p:txBody>
      </p:sp>
      <p:sp>
        <p:nvSpPr>
          <p:cNvPr id="25" name="Shape 23"/>
          <p:cNvSpPr/>
          <p:nvPr/>
        </p:nvSpPr>
        <p:spPr>
          <a:xfrm>
            <a:off x="3474720" y="4572000"/>
            <a:ext cx="118872" cy="118872"/>
          </a:xfrm>
          <a:prstGeom prst="ellipse">
            <a:avLst/>
          </a:prstGeom>
          <a:solidFill>
            <a:srgbClr val="F2A65A"/>
          </a:solidFill>
          <a:ln/>
        </p:spPr>
      </p:sp>
      <p:sp>
        <p:nvSpPr>
          <p:cNvPr id="26" name="Text 24"/>
          <p:cNvSpPr/>
          <p:nvPr/>
        </p:nvSpPr>
        <p:spPr>
          <a:xfrm>
            <a:off x="3657600" y="4480560"/>
            <a:ext cx="2103120" cy="274320"/>
          </a:xfrm>
          <a:prstGeom prst="rect">
            <a:avLst/>
          </a:prstGeom>
          <a:noFill/>
          <a:ln/>
        </p:spPr>
        <p:txBody>
          <a:bodyPr wrap="square" rtlCol="0" anchor="ctr"/>
          <a:lstStyle/>
          <a:p>
            <a:pPr indent="0" marL="0">
              <a:buNone/>
            </a:pPr>
            <a:r>
              <a:rPr lang="en-US" sz="900" dirty="0">
                <a:solidFill>
                  <a:srgbClr val="5B6673"/>
                </a:solidFill>
                <a:latin typeface="Calibri" pitchFamily="34" charset="0"/>
                <a:ea typeface="Calibri" pitchFamily="34" charset="-122"/>
                <a:cs typeface="Calibri" pitchFamily="34" charset="-120"/>
              </a:rPr>
              <a:t>Decoder (upsampling)</a:t>
            </a:r>
            <a:endParaRPr lang="en-US" sz="900" dirty="0"/>
          </a:p>
        </p:txBody>
      </p:sp>
      <p:sp>
        <p:nvSpPr>
          <p:cNvPr id="27" name="Text 25"/>
          <p:cNvSpPr/>
          <p:nvPr/>
        </p:nvSpPr>
        <p:spPr>
          <a:xfrm>
            <a:off x="6263640" y="1783080"/>
            <a:ext cx="5303520" cy="32004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Training Configuration</a:t>
            </a:r>
            <a:endParaRPr lang="en-US" sz="1500" dirty="0"/>
          </a:p>
        </p:txBody>
      </p:sp>
      <p:sp>
        <p:nvSpPr>
          <p:cNvPr id="28" name="Shape 26"/>
          <p:cNvSpPr/>
          <p:nvPr/>
        </p:nvSpPr>
        <p:spPr>
          <a:xfrm>
            <a:off x="6263640" y="2194560"/>
            <a:ext cx="5303520" cy="658368"/>
          </a:xfrm>
          <a:prstGeom prst="roundRect">
            <a:avLst>
              <a:gd name="adj" fmla="val 11111"/>
            </a:avLst>
          </a:prstGeom>
          <a:solidFill>
            <a:srgbClr val="F6F8FA"/>
          </a:solidFill>
          <a:ln w="12700">
            <a:solidFill>
              <a:srgbClr val="E3E8EE"/>
            </a:solidFill>
            <a:prstDash val="solid"/>
          </a:ln>
        </p:spPr>
      </p:sp>
      <p:sp>
        <p:nvSpPr>
          <p:cNvPr id="29" name="Text 27"/>
          <p:cNvSpPr/>
          <p:nvPr/>
        </p:nvSpPr>
        <p:spPr>
          <a:xfrm>
            <a:off x="6446520" y="2258568"/>
            <a:ext cx="4937760" cy="27432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Loss function</a:t>
            </a:r>
            <a:endParaRPr lang="en-US" sz="1200" dirty="0"/>
          </a:p>
        </p:txBody>
      </p:sp>
      <p:sp>
        <p:nvSpPr>
          <p:cNvPr id="30" name="Text 28"/>
          <p:cNvSpPr/>
          <p:nvPr/>
        </p:nvSpPr>
        <p:spPr>
          <a:xfrm>
            <a:off x="6446520" y="2514600"/>
            <a:ext cx="4937760" cy="292608"/>
          </a:xfrm>
          <a:prstGeom prst="rect">
            <a:avLst/>
          </a:prstGeom>
          <a:noFill/>
          <a:ln/>
        </p:spPr>
        <p:txBody>
          <a:bodyPr wrap="square" rtlCol="0" anchor="ctr"/>
          <a:lstStyle/>
          <a:p>
            <a:pPr indent="0" marL="0">
              <a:buNone/>
            </a:pPr>
            <a:r>
              <a:rPr lang="en-US" sz="1000" dirty="0">
                <a:solidFill>
                  <a:srgbClr val="5B6673"/>
                </a:solidFill>
                <a:latin typeface="Calibri" pitchFamily="34" charset="0"/>
                <a:ea typeface="Calibri" pitchFamily="34" charset="-122"/>
                <a:cs typeface="Calibri" pitchFamily="34" charset="-120"/>
              </a:rPr>
              <a:t>Combined BCE + Dice Loss for pixel-level class balance</a:t>
            </a:r>
            <a:endParaRPr lang="en-US" sz="1000" dirty="0"/>
          </a:p>
        </p:txBody>
      </p:sp>
      <p:sp>
        <p:nvSpPr>
          <p:cNvPr id="31" name="Shape 29"/>
          <p:cNvSpPr/>
          <p:nvPr/>
        </p:nvSpPr>
        <p:spPr>
          <a:xfrm>
            <a:off x="6263640" y="2971800"/>
            <a:ext cx="5303520" cy="658368"/>
          </a:xfrm>
          <a:prstGeom prst="roundRect">
            <a:avLst>
              <a:gd name="adj" fmla="val 11111"/>
            </a:avLst>
          </a:prstGeom>
          <a:solidFill>
            <a:srgbClr val="F6F8FA"/>
          </a:solidFill>
          <a:ln w="12700">
            <a:solidFill>
              <a:srgbClr val="E3E8EE"/>
            </a:solidFill>
            <a:prstDash val="solid"/>
          </a:ln>
        </p:spPr>
      </p:sp>
      <p:sp>
        <p:nvSpPr>
          <p:cNvPr id="32" name="Text 30"/>
          <p:cNvSpPr/>
          <p:nvPr/>
        </p:nvSpPr>
        <p:spPr>
          <a:xfrm>
            <a:off x="6446520" y="3035808"/>
            <a:ext cx="4937760" cy="27432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Optimizer</a:t>
            </a:r>
            <a:endParaRPr lang="en-US" sz="1200" dirty="0"/>
          </a:p>
        </p:txBody>
      </p:sp>
      <p:sp>
        <p:nvSpPr>
          <p:cNvPr id="33" name="Text 31"/>
          <p:cNvSpPr/>
          <p:nvPr/>
        </p:nvSpPr>
        <p:spPr>
          <a:xfrm>
            <a:off x="6446520" y="3291840"/>
            <a:ext cx="4937760" cy="292608"/>
          </a:xfrm>
          <a:prstGeom prst="rect">
            <a:avLst/>
          </a:prstGeom>
          <a:noFill/>
          <a:ln/>
        </p:spPr>
        <p:txBody>
          <a:bodyPr wrap="square" rtlCol="0" anchor="ctr"/>
          <a:lstStyle/>
          <a:p>
            <a:pPr indent="0" marL="0">
              <a:buNone/>
            </a:pPr>
            <a:r>
              <a:rPr lang="en-US" sz="1000" dirty="0">
                <a:solidFill>
                  <a:srgbClr val="5B6673"/>
                </a:solidFill>
                <a:latin typeface="Calibri" pitchFamily="34" charset="0"/>
                <a:ea typeface="Calibri" pitchFamily="34" charset="-122"/>
                <a:cs typeface="Calibri" pitchFamily="34" charset="-120"/>
              </a:rPr>
              <a:t>Adam, updating U-Net weights each training step</a:t>
            </a:r>
            <a:endParaRPr lang="en-US" sz="1000" dirty="0"/>
          </a:p>
        </p:txBody>
      </p:sp>
      <p:sp>
        <p:nvSpPr>
          <p:cNvPr id="34" name="Shape 32"/>
          <p:cNvSpPr/>
          <p:nvPr/>
        </p:nvSpPr>
        <p:spPr>
          <a:xfrm>
            <a:off x="6263640" y="3749040"/>
            <a:ext cx="5303520" cy="658368"/>
          </a:xfrm>
          <a:prstGeom prst="roundRect">
            <a:avLst>
              <a:gd name="adj" fmla="val 11111"/>
            </a:avLst>
          </a:prstGeom>
          <a:solidFill>
            <a:srgbClr val="F6F8FA"/>
          </a:solidFill>
          <a:ln w="12700">
            <a:solidFill>
              <a:srgbClr val="E3E8EE"/>
            </a:solidFill>
            <a:prstDash val="solid"/>
          </a:ln>
        </p:spPr>
      </p:sp>
      <p:sp>
        <p:nvSpPr>
          <p:cNvPr id="35" name="Text 33"/>
          <p:cNvSpPr/>
          <p:nvPr/>
        </p:nvSpPr>
        <p:spPr>
          <a:xfrm>
            <a:off x="6446520" y="3813048"/>
            <a:ext cx="4937760" cy="27432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Precision mode</a:t>
            </a:r>
            <a:endParaRPr lang="en-US" sz="1200" dirty="0"/>
          </a:p>
        </p:txBody>
      </p:sp>
      <p:sp>
        <p:nvSpPr>
          <p:cNvPr id="36" name="Text 34"/>
          <p:cNvSpPr/>
          <p:nvPr/>
        </p:nvSpPr>
        <p:spPr>
          <a:xfrm>
            <a:off x="6446520" y="4069080"/>
            <a:ext cx="4937760" cy="292608"/>
          </a:xfrm>
          <a:prstGeom prst="rect">
            <a:avLst/>
          </a:prstGeom>
          <a:noFill/>
          <a:ln/>
        </p:spPr>
        <p:txBody>
          <a:bodyPr wrap="square" rtlCol="0" anchor="ctr"/>
          <a:lstStyle/>
          <a:p>
            <a:pPr indent="0" marL="0">
              <a:buNone/>
            </a:pPr>
            <a:r>
              <a:rPr lang="en-US" sz="1000" dirty="0">
                <a:solidFill>
                  <a:srgbClr val="5B6673"/>
                </a:solidFill>
                <a:latin typeface="Calibri" pitchFamily="34" charset="0"/>
                <a:ea typeface="Calibri" pitchFamily="34" charset="-122"/>
                <a:cs typeface="Calibri" pitchFamily="34" charset="-120"/>
              </a:rPr>
              <a:t>Mixed-precision (AMP) training, optimized for RTX 3050</a:t>
            </a:r>
            <a:endParaRPr lang="en-US" sz="1000" dirty="0"/>
          </a:p>
        </p:txBody>
      </p:sp>
      <p:sp>
        <p:nvSpPr>
          <p:cNvPr id="37" name="Shape 35"/>
          <p:cNvSpPr/>
          <p:nvPr/>
        </p:nvSpPr>
        <p:spPr>
          <a:xfrm>
            <a:off x="6263640" y="4526280"/>
            <a:ext cx="5303520" cy="658368"/>
          </a:xfrm>
          <a:prstGeom prst="roundRect">
            <a:avLst>
              <a:gd name="adj" fmla="val 11111"/>
            </a:avLst>
          </a:prstGeom>
          <a:solidFill>
            <a:srgbClr val="F6F8FA"/>
          </a:solidFill>
          <a:ln w="12700">
            <a:solidFill>
              <a:srgbClr val="E3E8EE"/>
            </a:solidFill>
            <a:prstDash val="solid"/>
          </a:ln>
        </p:spPr>
      </p:sp>
      <p:sp>
        <p:nvSpPr>
          <p:cNvPr id="38" name="Text 36"/>
          <p:cNvSpPr/>
          <p:nvPr/>
        </p:nvSpPr>
        <p:spPr>
          <a:xfrm>
            <a:off x="6446520" y="4590288"/>
            <a:ext cx="4937760" cy="27432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Task</a:t>
            </a:r>
            <a:endParaRPr lang="en-US" sz="1200" dirty="0"/>
          </a:p>
        </p:txBody>
      </p:sp>
      <p:sp>
        <p:nvSpPr>
          <p:cNvPr id="39" name="Text 37"/>
          <p:cNvSpPr/>
          <p:nvPr/>
        </p:nvSpPr>
        <p:spPr>
          <a:xfrm>
            <a:off x="6446520" y="4846320"/>
            <a:ext cx="4937760" cy="292608"/>
          </a:xfrm>
          <a:prstGeom prst="rect">
            <a:avLst/>
          </a:prstGeom>
          <a:noFill/>
          <a:ln/>
        </p:spPr>
        <p:txBody>
          <a:bodyPr wrap="square" rtlCol="0" anchor="ctr"/>
          <a:lstStyle/>
          <a:p>
            <a:pPr indent="0" marL="0">
              <a:buNone/>
            </a:pPr>
            <a:r>
              <a:rPr lang="en-US" sz="1000" dirty="0">
                <a:solidFill>
                  <a:srgbClr val="5B6673"/>
                </a:solidFill>
                <a:latin typeface="Calibri" pitchFamily="34" charset="0"/>
                <a:ea typeface="Calibri" pitchFamily="34" charset="-122"/>
                <a:cs typeface="Calibri" pitchFamily="34" charset="-120"/>
              </a:rPr>
              <a:t>Binary foreground/background surgical instrument masks</a:t>
            </a:r>
            <a:endParaRPr lang="en-US" sz="1000" dirty="0"/>
          </a:p>
        </p:txBody>
      </p:sp>
      <p:sp>
        <p:nvSpPr>
          <p:cNvPr id="40" name="Text 38"/>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41" name="Text 39"/>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F33"/>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F2A65A"/>
                </a:solidFill>
                <a:latin typeface="Calibri" pitchFamily="34" charset="0"/>
                <a:ea typeface="Calibri" pitchFamily="34" charset="-122"/>
                <a:cs typeface="Calibri" pitchFamily="34" charset="-120"/>
              </a:rPr>
              <a:t>INTEGRATION</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Integrated DL Model with ROS 2</a:t>
            </a:r>
            <a:endParaRPr lang="en-US" sz="3000" dirty="0"/>
          </a:p>
        </p:txBody>
      </p:sp>
      <p:sp>
        <p:nvSpPr>
          <p:cNvPr id="4" name="Text 2"/>
          <p:cNvSpPr/>
          <p:nvPr/>
        </p:nvSpPr>
        <p:spPr>
          <a:xfrm>
            <a:off x="640080" y="1353312"/>
            <a:ext cx="9144000" cy="365760"/>
          </a:xfrm>
          <a:prstGeom prst="rect">
            <a:avLst/>
          </a:prstGeom>
          <a:noFill/>
          <a:ln/>
        </p:spPr>
        <p:txBody>
          <a:bodyPr wrap="square" rtlCol="0" anchor="ctr"/>
          <a:lstStyle/>
          <a:p>
            <a:pPr indent="0" marL="0">
              <a:buNone/>
            </a:pPr>
            <a:r>
              <a:rPr lang="en-US" sz="1300" i="1" dirty="0">
                <a:solidFill>
                  <a:srgbClr val="9FB4C7"/>
                </a:solidFill>
                <a:latin typeface="Calibri" pitchFamily="34" charset="0"/>
                <a:ea typeface="Calibri" pitchFamily="34" charset="-122"/>
                <a:cs typeface="Calibri" pitchFamily="34" charset="-120"/>
              </a:rPr>
              <a:t>Wrapping trained perception models into a live robotic node</a:t>
            </a:r>
            <a:endParaRPr lang="en-US" sz="1300" dirty="0"/>
          </a:p>
        </p:txBody>
      </p:sp>
      <p:sp>
        <p:nvSpPr>
          <p:cNvPr id="5" name="Shape 3"/>
          <p:cNvSpPr/>
          <p:nvPr/>
        </p:nvSpPr>
        <p:spPr>
          <a:xfrm>
            <a:off x="640080" y="1965960"/>
            <a:ext cx="5029200" cy="4160520"/>
          </a:xfrm>
          <a:prstGeom prst="roundRect">
            <a:avLst>
              <a:gd name="adj" fmla="val 2637"/>
            </a:avLst>
          </a:prstGeom>
          <a:solidFill>
            <a:srgbClr val="0B3D62"/>
          </a:solidFill>
          <a:ln/>
        </p:spPr>
      </p:sp>
      <p:sp>
        <p:nvSpPr>
          <p:cNvPr id="6" name="Shape 4"/>
          <p:cNvSpPr/>
          <p:nvPr/>
        </p:nvSpPr>
        <p:spPr>
          <a:xfrm>
            <a:off x="914400" y="2240280"/>
            <a:ext cx="548640" cy="548640"/>
          </a:xfrm>
          <a:prstGeom prst="ellipse">
            <a:avLst/>
          </a:prstGeom>
          <a:solidFill>
            <a:srgbClr val="1C8FA0"/>
          </a:solidFill>
          <a:ln/>
        </p:spPr>
      </p:sp>
      <p:pic>
        <p:nvPicPr>
          <p:cNvPr id="7" name="Image 0" descr="icons/network_white.png">    </p:cNvPr>
          <p:cNvPicPr>
            <a:picLocks noChangeAspect="1"/>
          </p:cNvPicPr>
          <p:nvPr/>
        </p:nvPicPr>
        <p:blipFill>
          <a:blip r:embed="rId1"/>
          <a:stretch>
            <a:fillRect/>
          </a:stretch>
        </p:blipFill>
        <p:spPr>
          <a:xfrm>
            <a:off x="985723" y="2311603"/>
            <a:ext cx="405994" cy="405994"/>
          </a:xfrm>
          <a:prstGeom prst="rect">
            <a:avLst/>
          </a:prstGeom>
        </p:spPr>
      </p:pic>
      <p:sp>
        <p:nvSpPr>
          <p:cNvPr id="8" name="Text 5"/>
          <p:cNvSpPr/>
          <p:nvPr/>
        </p:nvSpPr>
        <p:spPr>
          <a:xfrm>
            <a:off x="1600200" y="2286000"/>
            <a:ext cx="3840480" cy="32004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deep_learning_node</a:t>
            </a:r>
            <a:endParaRPr lang="en-US" sz="1500" dirty="0"/>
          </a:p>
        </p:txBody>
      </p:sp>
      <p:sp>
        <p:nvSpPr>
          <p:cNvPr id="9" name="Text 6"/>
          <p:cNvSpPr/>
          <p:nvPr/>
        </p:nvSpPr>
        <p:spPr>
          <a:xfrm>
            <a:off x="1600200" y="2587752"/>
            <a:ext cx="3840480" cy="228600"/>
          </a:xfrm>
          <a:prstGeom prst="rect">
            <a:avLst/>
          </a:prstGeom>
          <a:noFill/>
          <a:ln/>
        </p:spPr>
        <p:txBody>
          <a:bodyPr wrap="square" rtlCol="0" anchor="ctr"/>
          <a:lstStyle/>
          <a:p>
            <a:pPr indent="0" marL="0">
              <a:buNone/>
            </a:pPr>
            <a:r>
              <a:rPr lang="en-US" sz="1000" dirty="0">
                <a:solidFill>
                  <a:srgbClr val="9FB4C7"/>
                </a:solidFill>
                <a:latin typeface="Calibri" pitchFamily="34" charset="0"/>
                <a:ea typeface="Calibri" pitchFamily="34" charset="-122"/>
                <a:cs typeface="Calibri" pitchFamily="34" charset="-120"/>
              </a:rPr>
              <a:t>ROS 2 Node (rclpy)</a:t>
            </a:r>
            <a:endParaRPr lang="en-US" sz="1000" dirty="0"/>
          </a:p>
        </p:txBody>
      </p:sp>
      <p:sp>
        <p:nvSpPr>
          <p:cNvPr id="10" name="Shape 7"/>
          <p:cNvSpPr/>
          <p:nvPr/>
        </p:nvSpPr>
        <p:spPr>
          <a:xfrm>
            <a:off x="914400" y="3017520"/>
            <a:ext cx="4480560" cy="0"/>
          </a:xfrm>
          <a:prstGeom prst="line">
            <a:avLst/>
          </a:prstGeom>
          <a:noFill/>
          <a:ln w="12700">
            <a:solidFill>
              <a:srgbClr val="234A63"/>
            </a:solidFill>
            <a:prstDash val="solid"/>
          </a:ln>
        </p:spPr>
      </p:sp>
      <p:sp>
        <p:nvSpPr>
          <p:cNvPr id="11" name="Shape 8"/>
          <p:cNvSpPr/>
          <p:nvPr/>
        </p:nvSpPr>
        <p:spPr>
          <a:xfrm>
            <a:off x="914400" y="3246120"/>
            <a:ext cx="310896" cy="310896"/>
          </a:xfrm>
          <a:prstGeom prst="ellipse">
            <a:avLst/>
          </a:prstGeom>
          <a:solidFill>
            <a:srgbClr val="1C8FA0"/>
          </a:solidFill>
          <a:ln/>
        </p:spPr>
      </p:sp>
      <p:sp>
        <p:nvSpPr>
          <p:cNvPr id="12" name="Text 9"/>
          <p:cNvSpPr/>
          <p:nvPr/>
        </p:nvSpPr>
        <p:spPr>
          <a:xfrm>
            <a:off x="914400" y="324612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353312" y="3200400"/>
            <a:ext cx="4023360" cy="502920"/>
          </a:xfrm>
          <a:prstGeom prst="rect">
            <a:avLst/>
          </a:prstGeom>
          <a:noFill/>
          <a:ln/>
        </p:spPr>
        <p:txBody>
          <a:bodyPr wrap="square" rtlCol="0" anchor="ctr"/>
          <a:lstStyle/>
          <a:p>
            <a:pPr indent="0" marL="0">
              <a:lnSpc>
                <a:spcPts val="1500"/>
              </a:lnSpc>
              <a:buNone/>
            </a:pPr>
            <a:r>
              <a:rPr lang="en-US" sz="1150" dirty="0">
                <a:solidFill>
                  <a:srgbClr val="EDF2F6"/>
                </a:solidFill>
                <a:latin typeface="Calibri" pitchFamily="34" charset="0"/>
                <a:ea typeface="Calibri" pitchFamily="34" charset="-122"/>
                <a:cs typeface="Calibri" pitchFamily="34" charset="-120"/>
              </a:rPr>
              <a:t>U-Net performs pixel-level segmentation on the incoming frame</a:t>
            </a:r>
            <a:endParaRPr lang="en-US" sz="1150" dirty="0"/>
          </a:p>
        </p:txBody>
      </p:sp>
      <p:sp>
        <p:nvSpPr>
          <p:cNvPr id="14" name="Shape 11"/>
          <p:cNvSpPr/>
          <p:nvPr/>
        </p:nvSpPr>
        <p:spPr>
          <a:xfrm>
            <a:off x="914400" y="3959352"/>
            <a:ext cx="310896" cy="310896"/>
          </a:xfrm>
          <a:prstGeom prst="ellipse">
            <a:avLst/>
          </a:prstGeom>
          <a:solidFill>
            <a:srgbClr val="1C8FA0"/>
          </a:solidFill>
          <a:ln/>
        </p:spPr>
      </p:sp>
      <p:sp>
        <p:nvSpPr>
          <p:cNvPr id="15" name="Text 12"/>
          <p:cNvSpPr/>
          <p:nvPr/>
        </p:nvSpPr>
        <p:spPr>
          <a:xfrm>
            <a:off x="914400" y="395935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353312" y="3913632"/>
            <a:ext cx="4023360" cy="502920"/>
          </a:xfrm>
          <a:prstGeom prst="rect">
            <a:avLst/>
          </a:prstGeom>
          <a:noFill/>
          <a:ln/>
        </p:spPr>
        <p:txBody>
          <a:bodyPr wrap="square" rtlCol="0" anchor="ctr"/>
          <a:lstStyle/>
          <a:p>
            <a:pPr indent="0" marL="0">
              <a:lnSpc>
                <a:spcPts val="1500"/>
              </a:lnSpc>
              <a:buNone/>
            </a:pPr>
            <a:r>
              <a:rPr lang="en-US" sz="1150" dirty="0">
                <a:solidFill>
                  <a:srgbClr val="EDF2F6"/>
                </a:solidFill>
                <a:latin typeface="Calibri" pitchFamily="34" charset="0"/>
                <a:ea typeface="Calibri" pitchFamily="34" charset="-122"/>
                <a:cs typeface="Calibri" pitchFamily="34" charset="-120"/>
              </a:rPr>
              <a:t>YOLO detector localizes surgical instruments in parallel</a:t>
            </a:r>
            <a:endParaRPr lang="en-US" sz="1150" dirty="0"/>
          </a:p>
        </p:txBody>
      </p:sp>
      <p:sp>
        <p:nvSpPr>
          <p:cNvPr id="17" name="Shape 14"/>
          <p:cNvSpPr/>
          <p:nvPr/>
        </p:nvSpPr>
        <p:spPr>
          <a:xfrm>
            <a:off x="914400" y="4672584"/>
            <a:ext cx="310896" cy="310896"/>
          </a:xfrm>
          <a:prstGeom prst="ellipse">
            <a:avLst/>
          </a:prstGeom>
          <a:solidFill>
            <a:srgbClr val="1C8FA0"/>
          </a:solidFill>
          <a:ln/>
        </p:spPr>
      </p:sp>
      <p:sp>
        <p:nvSpPr>
          <p:cNvPr id="18" name="Text 15"/>
          <p:cNvSpPr/>
          <p:nvPr/>
        </p:nvSpPr>
        <p:spPr>
          <a:xfrm>
            <a:off x="914400" y="4672584"/>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353312" y="4626864"/>
            <a:ext cx="4023360" cy="502920"/>
          </a:xfrm>
          <a:prstGeom prst="rect">
            <a:avLst/>
          </a:prstGeom>
          <a:noFill/>
          <a:ln/>
        </p:spPr>
        <p:txBody>
          <a:bodyPr wrap="square" rtlCol="0" anchor="ctr"/>
          <a:lstStyle/>
          <a:p>
            <a:pPr indent="0" marL="0">
              <a:lnSpc>
                <a:spcPts val="1500"/>
              </a:lnSpc>
              <a:buNone/>
            </a:pPr>
            <a:r>
              <a:rPr lang="en-US" sz="1150" dirty="0">
                <a:solidFill>
                  <a:srgbClr val="EDF2F6"/>
                </a:solidFill>
                <a:latin typeface="Calibri" pitchFamily="34" charset="0"/>
                <a:ea typeface="Calibri" pitchFamily="34" charset="-122"/>
                <a:cs typeface="Calibri" pitchFamily="34" charset="-120"/>
              </a:rPr>
              <a:t>Node publishes a status message on the dl_project_status topic</a:t>
            </a:r>
            <a:endParaRPr lang="en-US" sz="1150" dirty="0"/>
          </a:p>
        </p:txBody>
      </p:sp>
      <p:sp>
        <p:nvSpPr>
          <p:cNvPr id="20" name="Shape 17"/>
          <p:cNvSpPr/>
          <p:nvPr/>
        </p:nvSpPr>
        <p:spPr>
          <a:xfrm>
            <a:off x="914400" y="5385816"/>
            <a:ext cx="310896" cy="310896"/>
          </a:xfrm>
          <a:prstGeom prst="ellipse">
            <a:avLst/>
          </a:prstGeom>
          <a:solidFill>
            <a:srgbClr val="1C8FA0"/>
          </a:solidFill>
          <a:ln/>
        </p:spPr>
      </p:sp>
      <p:sp>
        <p:nvSpPr>
          <p:cNvPr id="21" name="Text 18"/>
          <p:cNvSpPr/>
          <p:nvPr/>
        </p:nvSpPr>
        <p:spPr>
          <a:xfrm>
            <a:off x="914400" y="5385816"/>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353312" y="5340096"/>
            <a:ext cx="4023360" cy="502920"/>
          </a:xfrm>
          <a:prstGeom prst="rect">
            <a:avLst/>
          </a:prstGeom>
          <a:noFill/>
          <a:ln/>
        </p:spPr>
        <p:txBody>
          <a:bodyPr wrap="square" rtlCol="0" anchor="ctr"/>
          <a:lstStyle/>
          <a:p>
            <a:pPr indent="0" marL="0">
              <a:lnSpc>
                <a:spcPts val="1500"/>
              </a:lnSpc>
              <a:buNone/>
            </a:pPr>
            <a:r>
              <a:rPr lang="en-US" sz="1150" dirty="0">
                <a:solidFill>
                  <a:srgbClr val="EDF2F6"/>
                </a:solidFill>
                <a:latin typeface="Calibri" pitchFamily="34" charset="0"/>
                <a:ea typeface="Calibri" pitchFamily="34" charset="-122"/>
                <a:cs typeface="Calibri" pitchFamily="34" charset="-120"/>
              </a:rPr>
              <a:t>Downstream ROS 2 nodes subscribe for motion planning input</a:t>
            </a:r>
            <a:endParaRPr lang="en-US" sz="1150" dirty="0"/>
          </a:p>
        </p:txBody>
      </p:sp>
      <p:sp>
        <p:nvSpPr>
          <p:cNvPr id="23" name="Text 20"/>
          <p:cNvSpPr/>
          <p:nvPr/>
        </p:nvSpPr>
        <p:spPr>
          <a:xfrm>
            <a:off x="5989320" y="1783080"/>
            <a:ext cx="557784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Live Node Output</a:t>
            </a:r>
            <a:endParaRPr lang="en-US" sz="1500" dirty="0"/>
          </a:p>
        </p:txBody>
      </p:sp>
      <p:sp>
        <p:nvSpPr>
          <p:cNvPr id="24" name="Shape 21"/>
          <p:cNvSpPr/>
          <p:nvPr/>
        </p:nvSpPr>
        <p:spPr>
          <a:xfrm>
            <a:off x="5989320" y="2194560"/>
            <a:ext cx="5577840" cy="1417320"/>
          </a:xfrm>
          <a:prstGeom prst="roundRect">
            <a:avLst>
              <a:gd name="adj" fmla="val 6452"/>
            </a:avLst>
          </a:prstGeom>
          <a:solidFill>
            <a:srgbClr val="05131F"/>
          </a:solidFill>
          <a:ln w="12700">
            <a:solidFill>
              <a:srgbClr val="234A63"/>
            </a:solidFill>
            <a:prstDash val="solid"/>
          </a:ln>
        </p:spPr>
      </p:sp>
      <p:sp>
        <p:nvSpPr>
          <p:cNvPr id="25" name="Text 22"/>
          <p:cNvSpPr/>
          <p:nvPr/>
        </p:nvSpPr>
        <p:spPr>
          <a:xfrm>
            <a:off x="6217920" y="2331720"/>
            <a:ext cx="5120640" cy="274320"/>
          </a:xfrm>
          <a:prstGeom prst="rect">
            <a:avLst/>
          </a:prstGeom>
          <a:noFill/>
          <a:ln/>
        </p:spPr>
        <p:txBody>
          <a:bodyPr wrap="square" rtlCol="0" anchor="ctr"/>
          <a:lstStyle/>
          <a:p>
            <a:pPr indent="0" marL="0">
              <a:buNone/>
            </a:pPr>
            <a:r>
              <a:rPr lang="en-US" sz="1100" dirty="0">
                <a:solidFill>
                  <a:srgbClr val="5FD3C4"/>
                </a:solidFill>
                <a:latin typeface="Courier New" pitchFamily="34" charset="0"/>
                <a:ea typeface="Courier New" pitchFamily="34" charset="-122"/>
                <a:cs typeface="Courier New" pitchFamily="34" charset="-120"/>
              </a:rPr>
              <a:t>$ ros2 run dl_pipeline deep_learning_node</a:t>
            </a:r>
            <a:endParaRPr lang="en-US" sz="1100" dirty="0"/>
          </a:p>
        </p:txBody>
      </p:sp>
      <p:sp>
        <p:nvSpPr>
          <p:cNvPr id="26" name="Text 23"/>
          <p:cNvSpPr/>
          <p:nvPr/>
        </p:nvSpPr>
        <p:spPr>
          <a:xfrm>
            <a:off x="6217920" y="2651760"/>
            <a:ext cx="5120640" cy="548640"/>
          </a:xfrm>
          <a:prstGeom prst="rect">
            <a:avLst/>
          </a:prstGeom>
          <a:noFill/>
          <a:ln/>
        </p:spPr>
        <p:txBody>
          <a:bodyPr wrap="square" rtlCol="0" anchor="ctr"/>
          <a:lstStyle/>
          <a:p>
            <a:pPr indent="0" marL="0">
              <a:lnSpc>
                <a:spcPts val="1500"/>
              </a:lnSpc>
              <a:buNone/>
            </a:pPr>
            <a:r>
              <a:rPr lang="en-US" sz="1100" dirty="0">
                <a:solidFill>
                  <a:srgbClr val="D7E3EC"/>
                </a:solidFill>
                <a:latin typeface="Courier New" pitchFamily="34" charset="0"/>
                <a:ea typeface="Courier New" pitchFamily="34" charset="-122"/>
                <a:cs typeface="Courier New" pitchFamily="34" charset="-120"/>
              </a:rPr>
              <a:t>[INFO] [deep_learning_node]: U-Net segmentation + YOLO</a:t>
            </a:r>
            <a:endParaRPr lang="en-US" sz="1100" dirty="0"/>
          </a:p>
          <a:p>
            <a:pPr indent="0" marL="0">
              <a:lnSpc>
                <a:spcPts val="1500"/>
              </a:lnSpc>
              <a:buNone/>
            </a:pPr>
            <a:r>
              <a:rPr lang="en-US" sz="1100" dirty="0">
                <a:solidFill>
                  <a:srgbClr val="D7E3EC"/>
                </a:solidFill>
                <a:latin typeface="Courier New" pitchFamily="34" charset="0"/>
                <a:ea typeface="Courier New" pitchFamily="34" charset="-122"/>
                <a:cs typeface="Courier New" pitchFamily="34" charset="-120"/>
              </a:rPr>
              <a:t>detection completed</a:t>
            </a:r>
            <a:endParaRPr lang="en-US" sz="1100" dirty="0"/>
          </a:p>
        </p:txBody>
      </p:sp>
      <p:sp>
        <p:nvSpPr>
          <p:cNvPr id="27" name="Text 24"/>
          <p:cNvSpPr/>
          <p:nvPr/>
        </p:nvSpPr>
        <p:spPr>
          <a:xfrm>
            <a:off x="6217920" y="3246120"/>
            <a:ext cx="5120640" cy="274320"/>
          </a:xfrm>
          <a:prstGeom prst="rect">
            <a:avLst/>
          </a:prstGeom>
          <a:noFill/>
          <a:ln/>
        </p:spPr>
        <p:txBody>
          <a:bodyPr wrap="square" rtlCol="0" anchor="ctr"/>
          <a:lstStyle/>
          <a:p>
            <a:pPr indent="0" marL="0">
              <a:buNone/>
            </a:pPr>
            <a:r>
              <a:rPr lang="en-US" sz="1050" dirty="0">
                <a:solidFill>
                  <a:srgbClr val="F2A65A"/>
                </a:solidFill>
                <a:latin typeface="Courier New" pitchFamily="34" charset="0"/>
                <a:ea typeface="Courier New" pitchFamily="34" charset="-122"/>
                <a:cs typeface="Courier New" pitchFamily="34" charset="-120"/>
              </a:rPr>
              <a:t>Topic: /dl_project_status   →   String msg</a:t>
            </a:r>
            <a:endParaRPr lang="en-US" sz="1050" dirty="0"/>
          </a:p>
        </p:txBody>
      </p:sp>
      <p:sp>
        <p:nvSpPr>
          <p:cNvPr id="28" name="Text 25"/>
          <p:cNvSpPr/>
          <p:nvPr/>
        </p:nvSpPr>
        <p:spPr>
          <a:xfrm>
            <a:off x="5989320" y="3886200"/>
            <a:ext cx="5577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This Matters</a:t>
            </a:r>
            <a:endParaRPr lang="en-US" sz="1400" dirty="0"/>
          </a:p>
        </p:txBody>
      </p:sp>
      <p:sp>
        <p:nvSpPr>
          <p:cNvPr id="29" name="Shape 26"/>
          <p:cNvSpPr/>
          <p:nvPr/>
        </p:nvSpPr>
        <p:spPr>
          <a:xfrm>
            <a:off x="5989320" y="4325112"/>
            <a:ext cx="109728" cy="109728"/>
          </a:xfrm>
          <a:prstGeom prst="ellipse">
            <a:avLst/>
          </a:prstGeom>
          <a:solidFill>
            <a:srgbClr val="1C8FA0"/>
          </a:solidFill>
          <a:ln/>
        </p:spPr>
      </p:sp>
      <p:sp>
        <p:nvSpPr>
          <p:cNvPr id="30" name="Text 27"/>
          <p:cNvSpPr/>
          <p:nvPr/>
        </p:nvSpPr>
        <p:spPr>
          <a:xfrm>
            <a:off x="6245352" y="4187952"/>
            <a:ext cx="5303520" cy="365760"/>
          </a:xfrm>
          <a:prstGeom prst="rect">
            <a:avLst/>
          </a:prstGeom>
          <a:noFill/>
          <a:ln/>
        </p:spPr>
        <p:txBody>
          <a:bodyPr wrap="square" rtlCol="0" anchor="ctr"/>
          <a:lstStyle/>
          <a:p>
            <a:pPr indent="0" marL="0">
              <a:buNone/>
            </a:pPr>
            <a:r>
              <a:rPr lang="en-US" sz="1150" dirty="0">
                <a:solidFill>
                  <a:srgbClr val="EDF2F6"/>
                </a:solidFill>
                <a:latin typeface="Calibri" pitchFamily="34" charset="0"/>
                <a:ea typeface="Calibri" pitchFamily="34" charset="-122"/>
                <a:cs typeface="Calibri" pitchFamily="34" charset="-120"/>
              </a:rPr>
              <a:t>Decouples model inference from robot control logic</a:t>
            </a:r>
            <a:endParaRPr lang="en-US" sz="1150" dirty="0"/>
          </a:p>
        </p:txBody>
      </p:sp>
      <p:sp>
        <p:nvSpPr>
          <p:cNvPr id="31" name="Shape 28"/>
          <p:cNvSpPr/>
          <p:nvPr/>
        </p:nvSpPr>
        <p:spPr>
          <a:xfrm>
            <a:off x="5989320" y="4782312"/>
            <a:ext cx="109728" cy="109728"/>
          </a:xfrm>
          <a:prstGeom prst="ellipse">
            <a:avLst/>
          </a:prstGeom>
          <a:solidFill>
            <a:srgbClr val="1C8FA0"/>
          </a:solidFill>
          <a:ln/>
        </p:spPr>
      </p:sp>
      <p:sp>
        <p:nvSpPr>
          <p:cNvPr id="32" name="Text 29"/>
          <p:cNvSpPr/>
          <p:nvPr/>
        </p:nvSpPr>
        <p:spPr>
          <a:xfrm>
            <a:off x="6245352" y="4645152"/>
            <a:ext cx="5303520" cy="365760"/>
          </a:xfrm>
          <a:prstGeom prst="rect">
            <a:avLst/>
          </a:prstGeom>
          <a:noFill/>
          <a:ln/>
        </p:spPr>
        <p:txBody>
          <a:bodyPr wrap="square" rtlCol="0" anchor="ctr"/>
          <a:lstStyle/>
          <a:p>
            <a:pPr indent="0" marL="0">
              <a:buNone/>
            </a:pPr>
            <a:r>
              <a:rPr lang="en-US" sz="1150" dirty="0">
                <a:solidFill>
                  <a:srgbClr val="EDF2F6"/>
                </a:solidFill>
                <a:latin typeface="Calibri" pitchFamily="34" charset="0"/>
                <a:ea typeface="Calibri" pitchFamily="34" charset="-122"/>
                <a:cs typeface="Calibri" pitchFamily="34" charset="-120"/>
              </a:rPr>
              <a:t>Standard ROS 2 topics make the perception layer reusable</a:t>
            </a:r>
            <a:endParaRPr lang="en-US" sz="1150" dirty="0"/>
          </a:p>
        </p:txBody>
      </p:sp>
      <p:sp>
        <p:nvSpPr>
          <p:cNvPr id="33" name="Shape 30"/>
          <p:cNvSpPr/>
          <p:nvPr/>
        </p:nvSpPr>
        <p:spPr>
          <a:xfrm>
            <a:off x="5989320" y="5239512"/>
            <a:ext cx="109728" cy="109728"/>
          </a:xfrm>
          <a:prstGeom prst="ellipse">
            <a:avLst/>
          </a:prstGeom>
          <a:solidFill>
            <a:srgbClr val="1C8FA0"/>
          </a:solidFill>
          <a:ln/>
        </p:spPr>
      </p:sp>
      <p:sp>
        <p:nvSpPr>
          <p:cNvPr id="34" name="Text 31"/>
          <p:cNvSpPr/>
          <p:nvPr/>
        </p:nvSpPr>
        <p:spPr>
          <a:xfrm>
            <a:off x="6245352" y="5102352"/>
            <a:ext cx="5303520" cy="365760"/>
          </a:xfrm>
          <a:prstGeom prst="rect">
            <a:avLst/>
          </a:prstGeom>
          <a:noFill/>
          <a:ln/>
        </p:spPr>
        <p:txBody>
          <a:bodyPr wrap="square" rtlCol="0" anchor="ctr"/>
          <a:lstStyle/>
          <a:p>
            <a:pPr indent="0" marL="0">
              <a:buNone/>
            </a:pPr>
            <a:r>
              <a:rPr lang="en-US" sz="1150" dirty="0">
                <a:solidFill>
                  <a:srgbClr val="EDF2F6"/>
                </a:solidFill>
                <a:latin typeface="Calibri" pitchFamily="34" charset="0"/>
                <a:ea typeface="Calibri" pitchFamily="34" charset="-122"/>
                <a:cs typeface="Calibri" pitchFamily="34" charset="-120"/>
              </a:rPr>
              <a:t>Same node architecture transfers from Gazebo to real hardware</a:t>
            </a:r>
            <a:endParaRPr lang="en-US" sz="1150" dirty="0"/>
          </a:p>
        </p:txBody>
      </p:sp>
      <p:sp>
        <p:nvSpPr>
          <p:cNvPr id="35" name="Text 32"/>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6" name="Text 33"/>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8FA0"/>
                </a:solidFill>
                <a:latin typeface="Calibri" pitchFamily="34" charset="0"/>
                <a:ea typeface="Calibri" pitchFamily="34" charset="-122"/>
                <a:cs typeface="Calibri" pitchFamily="34" charset="-120"/>
              </a:rPr>
              <a:t>CONTROL LAYER</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2700" b="1" dirty="0">
                <a:solidFill>
                  <a:srgbClr val="1B1F24"/>
                </a:solidFill>
                <a:latin typeface="Cambria" pitchFamily="34" charset="0"/>
                <a:ea typeface="Cambria" pitchFamily="34" charset="-122"/>
                <a:cs typeface="Cambria" pitchFamily="34" charset="-120"/>
              </a:rPr>
              <a:t>AI-Based Robot Motion Planning and Control</a:t>
            </a:r>
            <a:endParaRPr lang="en-US" sz="2700" dirty="0"/>
          </a:p>
        </p:txBody>
      </p:sp>
      <p:sp>
        <p:nvSpPr>
          <p:cNvPr id="4" name="Text 2"/>
          <p:cNvSpPr/>
          <p:nvPr/>
        </p:nvSpPr>
        <p:spPr>
          <a:xfrm>
            <a:off x="640080" y="1353312"/>
            <a:ext cx="9144000" cy="365760"/>
          </a:xfrm>
          <a:prstGeom prst="rect">
            <a:avLst/>
          </a:prstGeom>
          <a:noFill/>
          <a:ln/>
        </p:spPr>
        <p:txBody>
          <a:bodyPr wrap="square" rtlCol="0" anchor="ctr"/>
          <a:lstStyle/>
          <a:p>
            <a:pPr indent="0" marL="0">
              <a:buNone/>
            </a:pPr>
            <a:r>
              <a:rPr lang="en-US" sz="1300" i="1" dirty="0">
                <a:solidFill>
                  <a:srgbClr val="5B6673"/>
                </a:solidFill>
                <a:latin typeface="Calibri" pitchFamily="34" charset="0"/>
                <a:ea typeface="Calibri" pitchFamily="34" charset="-122"/>
                <a:cs typeface="Calibri" pitchFamily="34" charset="-120"/>
              </a:rPr>
              <a:t>Turning perception into safe, deliberate robot movement</a:t>
            </a:r>
            <a:endParaRPr lang="en-US" sz="1300" dirty="0"/>
          </a:p>
        </p:txBody>
      </p:sp>
      <p:sp>
        <p:nvSpPr>
          <p:cNvPr id="5" name="Shape 3"/>
          <p:cNvSpPr/>
          <p:nvPr/>
        </p:nvSpPr>
        <p:spPr>
          <a:xfrm>
            <a:off x="640080" y="2148840"/>
            <a:ext cx="2514600" cy="2148840"/>
          </a:xfrm>
          <a:prstGeom prst="roundRect">
            <a:avLst>
              <a:gd name="adj" fmla="val 4255"/>
            </a:avLst>
          </a:prstGeom>
          <a:solidFill>
            <a:srgbClr val="F6F8FA"/>
          </a:solidFill>
          <a:ln w="12700">
            <a:solidFill>
              <a:srgbClr val="E3E8EE"/>
            </a:solidFill>
            <a:prstDash val="solid"/>
          </a:ln>
        </p:spPr>
      </p:sp>
      <p:sp>
        <p:nvSpPr>
          <p:cNvPr id="6" name="Shape 4"/>
          <p:cNvSpPr/>
          <p:nvPr/>
        </p:nvSpPr>
        <p:spPr>
          <a:xfrm>
            <a:off x="1613916" y="2404872"/>
            <a:ext cx="566928" cy="566928"/>
          </a:xfrm>
          <a:prstGeom prst="ellipse">
            <a:avLst/>
          </a:prstGeom>
          <a:solidFill>
            <a:srgbClr val="0B3D62"/>
          </a:solidFill>
          <a:ln/>
        </p:spPr>
      </p:sp>
      <p:pic>
        <p:nvPicPr>
          <p:cNvPr id="7" name="Image 0" descr="icons/eye_white.png">    </p:cNvPr>
          <p:cNvPicPr>
            <a:picLocks noChangeAspect="1"/>
          </p:cNvPicPr>
          <p:nvPr/>
        </p:nvPicPr>
        <p:blipFill>
          <a:blip r:embed="rId1"/>
          <a:stretch>
            <a:fillRect/>
          </a:stretch>
        </p:blipFill>
        <p:spPr>
          <a:xfrm>
            <a:off x="1687617" y="2478573"/>
            <a:ext cx="419527" cy="419527"/>
          </a:xfrm>
          <a:prstGeom prst="rect">
            <a:avLst/>
          </a:prstGeom>
        </p:spPr>
      </p:pic>
      <p:sp>
        <p:nvSpPr>
          <p:cNvPr id="8" name="Text 5"/>
          <p:cNvSpPr/>
          <p:nvPr/>
        </p:nvSpPr>
        <p:spPr>
          <a:xfrm>
            <a:off x="640080" y="3108960"/>
            <a:ext cx="2514600" cy="320040"/>
          </a:xfrm>
          <a:prstGeom prst="rect">
            <a:avLst/>
          </a:prstGeom>
          <a:noFill/>
          <a:ln/>
        </p:spPr>
        <p:txBody>
          <a:bodyPr wrap="square"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Perceive</a:t>
            </a:r>
            <a:endParaRPr lang="en-US" sz="1400" dirty="0"/>
          </a:p>
        </p:txBody>
      </p:sp>
      <p:sp>
        <p:nvSpPr>
          <p:cNvPr id="9" name="Text 6"/>
          <p:cNvSpPr/>
          <p:nvPr/>
        </p:nvSpPr>
        <p:spPr>
          <a:xfrm>
            <a:off x="777240" y="3447288"/>
            <a:ext cx="2240280" cy="777240"/>
          </a:xfrm>
          <a:prstGeom prst="rect">
            <a:avLst/>
          </a:prstGeom>
          <a:noFill/>
          <a:ln/>
        </p:spPr>
        <p:txBody>
          <a:bodyPr wrap="square" rtlCol="0" anchor="ctr"/>
          <a:lstStyle/>
          <a:p>
            <a:pPr algn="ctr" indent="0" marL="0">
              <a:lnSpc>
                <a:spcPts val="1300"/>
              </a:lnSpc>
              <a:buNone/>
            </a:pPr>
            <a:r>
              <a:rPr lang="en-US" sz="1000" dirty="0">
                <a:solidFill>
                  <a:srgbClr val="5B6673"/>
                </a:solidFill>
                <a:latin typeface="Calibri" pitchFamily="34" charset="0"/>
                <a:ea typeface="Calibri" pitchFamily="34" charset="-122"/>
                <a:cs typeface="Calibri" pitchFamily="34" charset="-120"/>
              </a:rPr>
              <a:t>U-Net + YOLO outputs describe instrument</a:t>
            </a:r>
            <a:endParaRPr lang="en-US" sz="1000" dirty="0"/>
          </a:p>
          <a:p>
            <a:pPr algn="ctr" indent="0" marL="0">
              <a:lnSpc>
                <a:spcPts val="1300"/>
              </a:lnSpc>
              <a:buNone/>
            </a:pPr>
            <a:r>
              <a:rPr lang="en-US" sz="1000" dirty="0">
                <a:solidFill>
                  <a:srgbClr val="5B6673"/>
                </a:solidFill>
                <a:latin typeface="Calibri" pitchFamily="34" charset="0"/>
                <a:ea typeface="Calibri" pitchFamily="34" charset="-122"/>
                <a:cs typeface="Calibri" pitchFamily="34" charset="-120"/>
              </a:rPr>
              <a:t>and tissue positions each frame</a:t>
            </a:r>
            <a:endParaRPr lang="en-US" sz="1000" dirty="0"/>
          </a:p>
        </p:txBody>
      </p:sp>
      <p:sp>
        <p:nvSpPr>
          <p:cNvPr id="10" name="Text 7"/>
          <p:cNvSpPr/>
          <p:nvPr/>
        </p:nvSpPr>
        <p:spPr>
          <a:xfrm>
            <a:off x="3136392" y="2994660"/>
            <a:ext cx="402336" cy="457200"/>
          </a:xfrm>
          <a:prstGeom prst="rect">
            <a:avLst/>
          </a:prstGeom>
          <a:noFill/>
          <a:ln/>
        </p:spPr>
        <p:txBody>
          <a:bodyPr wrap="square" rtlCol="0" anchor="ctr"/>
          <a:lstStyle/>
          <a:p>
            <a:pPr algn="ctr" indent="0" marL="0">
              <a:buNone/>
            </a:pPr>
            <a:r>
              <a:rPr lang="en-US" sz="2000" b="1" dirty="0">
                <a:solidFill>
                  <a:srgbClr val="F2A65A"/>
                </a:solidFill>
              </a:rPr>
              <a:t>→</a:t>
            </a:r>
            <a:endParaRPr lang="en-US" sz="2000" dirty="0"/>
          </a:p>
        </p:txBody>
      </p:sp>
      <p:sp>
        <p:nvSpPr>
          <p:cNvPr id="11" name="Shape 8"/>
          <p:cNvSpPr/>
          <p:nvPr/>
        </p:nvSpPr>
        <p:spPr>
          <a:xfrm>
            <a:off x="3520440" y="2148840"/>
            <a:ext cx="2514600" cy="2148840"/>
          </a:xfrm>
          <a:prstGeom prst="roundRect">
            <a:avLst>
              <a:gd name="adj" fmla="val 4255"/>
            </a:avLst>
          </a:prstGeom>
          <a:solidFill>
            <a:srgbClr val="0B3D62"/>
          </a:solidFill>
          <a:ln w="12700">
            <a:solidFill>
              <a:srgbClr val="E3E8EE"/>
            </a:solidFill>
            <a:prstDash val="solid"/>
          </a:ln>
        </p:spPr>
      </p:sp>
      <p:sp>
        <p:nvSpPr>
          <p:cNvPr id="12" name="Shape 9"/>
          <p:cNvSpPr/>
          <p:nvPr/>
        </p:nvSpPr>
        <p:spPr>
          <a:xfrm>
            <a:off x="4494276" y="2404872"/>
            <a:ext cx="566928" cy="566928"/>
          </a:xfrm>
          <a:prstGeom prst="ellipse">
            <a:avLst/>
          </a:prstGeom>
          <a:solidFill>
            <a:srgbClr val="F2A65A"/>
          </a:solidFill>
          <a:ln/>
        </p:spPr>
      </p:sp>
      <p:pic>
        <p:nvPicPr>
          <p:cNvPr id="13" name="Image 1" descr="icons/diagram.png">    </p:cNvPr>
          <p:cNvPicPr>
            <a:picLocks noChangeAspect="1"/>
          </p:cNvPicPr>
          <p:nvPr/>
        </p:nvPicPr>
        <p:blipFill>
          <a:blip r:embed="rId2"/>
          <a:stretch>
            <a:fillRect/>
          </a:stretch>
        </p:blipFill>
        <p:spPr>
          <a:xfrm>
            <a:off x="4567977" y="2478573"/>
            <a:ext cx="419527" cy="419527"/>
          </a:xfrm>
          <a:prstGeom prst="rect">
            <a:avLst/>
          </a:prstGeom>
        </p:spPr>
      </p:pic>
      <p:sp>
        <p:nvSpPr>
          <p:cNvPr id="14" name="Text 10"/>
          <p:cNvSpPr/>
          <p:nvPr/>
        </p:nvSpPr>
        <p:spPr>
          <a:xfrm>
            <a:off x="3520440" y="3108960"/>
            <a:ext cx="251460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Interpret</a:t>
            </a:r>
            <a:endParaRPr lang="en-US" sz="1400" dirty="0"/>
          </a:p>
        </p:txBody>
      </p:sp>
      <p:sp>
        <p:nvSpPr>
          <p:cNvPr id="15" name="Text 11"/>
          <p:cNvSpPr/>
          <p:nvPr/>
        </p:nvSpPr>
        <p:spPr>
          <a:xfrm>
            <a:off x="3657600" y="3447288"/>
            <a:ext cx="2240280" cy="777240"/>
          </a:xfrm>
          <a:prstGeom prst="rect">
            <a:avLst/>
          </a:prstGeom>
          <a:noFill/>
          <a:ln/>
        </p:spPr>
        <p:txBody>
          <a:bodyPr wrap="square" rtlCol="0" anchor="ctr"/>
          <a:lstStyle/>
          <a:p>
            <a:pPr algn="ctr" indent="0" marL="0">
              <a:lnSpc>
                <a:spcPts val="1300"/>
              </a:lnSpc>
              <a:buNone/>
            </a:pPr>
            <a:r>
              <a:rPr lang="en-US" sz="1000" dirty="0">
                <a:solidFill>
                  <a:srgbClr val="D7E3EC"/>
                </a:solidFill>
                <a:latin typeface="Calibri" pitchFamily="34" charset="0"/>
                <a:ea typeface="Calibri" pitchFamily="34" charset="-122"/>
                <a:cs typeface="Calibri" pitchFamily="34" charset="-120"/>
              </a:rPr>
              <a:t>Detections mapped to robot-frame</a:t>
            </a:r>
            <a:endParaRPr lang="en-US" sz="1000" dirty="0"/>
          </a:p>
          <a:p>
            <a:pPr algn="ctr" indent="0" marL="0">
              <a:lnSpc>
                <a:spcPts val="1300"/>
              </a:lnSpc>
              <a:buNone/>
            </a:pPr>
            <a:r>
              <a:rPr lang="en-US" sz="1000" dirty="0">
                <a:solidFill>
                  <a:srgbClr val="D7E3EC"/>
                </a:solidFill>
                <a:latin typeface="Calibri" pitchFamily="34" charset="0"/>
                <a:ea typeface="Calibri" pitchFamily="34" charset="-122"/>
                <a:cs typeface="Calibri" pitchFamily="34" charset="-120"/>
              </a:rPr>
              <a:t>coordinates for planning</a:t>
            </a:r>
            <a:endParaRPr lang="en-US" sz="1000" dirty="0"/>
          </a:p>
        </p:txBody>
      </p:sp>
      <p:sp>
        <p:nvSpPr>
          <p:cNvPr id="16" name="Text 12"/>
          <p:cNvSpPr/>
          <p:nvPr/>
        </p:nvSpPr>
        <p:spPr>
          <a:xfrm>
            <a:off x="6016752" y="2994660"/>
            <a:ext cx="402336" cy="457200"/>
          </a:xfrm>
          <a:prstGeom prst="rect">
            <a:avLst/>
          </a:prstGeom>
          <a:noFill/>
          <a:ln/>
        </p:spPr>
        <p:txBody>
          <a:bodyPr wrap="square" rtlCol="0" anchor="ctr"/>
          <a:lstStyle/>
          <a:p>
            <a:pPr algn="ctr" indent="0" marL="0">
              <a:buNone/>
            </a:pPr>
            <a:r>
              <a:rPr lang="en-US" sz="2000" b="1" dirty="0">
                <a:solidFill>
                  <a:srgbClr val="F2A65A"/>
                </a:solidFill>
              </a:rPr>
              <a:t>→</a:t>
            </a:r>
            <a:endParaRPr lang="en-US" sz="2000" dirty="0"/>
          </a:p>
        </p:txBody>
      </p:sp>
      <p:sp>
        <p:nvSpPr>
          <p:cNvPr id="17" name="Shape 13"/>
          <p:cNvSpPr/>
          <p:nvPr/>
        </p:nvSpPr>
        <p:spPr>
          <a:xfrm>
            <a:off x="6400800" y="2148840"/>
            <a:ext cx="2514600" cy="2148840"/>
          </a:xfrm>
          <a:prstGeom prst="roundRect">
            <a:avLst>
              <a:gd name="adj" fmla="val 4255"/>
            </a:avLst>
          </a:prstGeom>
          <a:solidFill>
            <a:srgbClr val="F6F8FA"/>
          </a:solidFill>
          <a:ln w="12700">
            <a:solidFill>
              <a:srgbClr val="E3E8EE"/>
            </a:solidFill>
            <a:prstDash val="solid"/>
          </a:ln>
        </p:spPr>
      </p:sp>
      <p:sp>
        <p:nvSpPr>
          <p:cNvPr id="18" name="Shape 14"/>
          <p:cNvSpPr/>
          <p:nvPr/>
        </p:nvSpPr>
        <p:spPr>
          <a:xfrm>
            <a:off x="7374636" y="2404872"/>
            <a:ext cx="566928" cy="566928"/>
          </a:xfrm>
          <a:prstGeom prst="ellipse">
            <a:avLst/>
          </a:prstGeom>
          <a:solidFill>
            <a:srgbClr val="0B3D62"/>
          </a:solidFill>
          <a:ln/>
        </p:spPr>
      </p:sp>
      <p:pic>
        <p:nvPicPr>
          <p:cNvPr id="19" name="Image 2" descr="icons/route_white.png">    </p:cNvPr>
          <p:cNvPicPr>
            <a:picLocks noChangeAspect="1"/>
          </p:cNvPicPr>
          <p:nvPr/>
        </p:nvPicPr>
        <p:blipFill>
          <a:blip r:embed="rId3"/>
          <a:stretch>
            <a:fillRect/>
          </a:stretch>
        </p:blipFill>
        <p:spPr>
          <a:xfrm>
            <a:off x="7448337" y="2478573"/>
            <a:ext cx="419527" cy="419527"/>
          </a:xfrm>
          <a:prstGeom prst="rect">
            <a:avLst/>
          </a:prstGeom>
        </p:spPr>
      </p:pic>
      <p:sp>
        <p:nvSpPr>
          <p:cNvPr id="20" name="Text 15"/>
          <p:cNvSpPr/>
          <p:nvPr/>
        </p:nvSpPr>
        <p:spPr>
          <a:xfrm>
            <a:off x="6400800" y="3108960"/>
            <a:ext cx="2514600" cy="320040"/>
          </a:xfrm>
          <a:prstGeom prst="rect">
            <a:avLst/>
          </a:prstGeom>
          <a:noFill/>
          <a:ln/>
        </p:spPr>
        <p:txBody>
          <a:bodyPr wrap="square"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Plan</a:t>
            </a:r>
            <a:endParaRPr lang="en-US" sz="1400" dirty="0"/>
          </a:p>
        </p:txBody>
      </p:sp>
      <p:sp>
        <p:nvSpPr>
          <p:cNvPr id="21" name="Text 16"/>
          <p:cNvSpPr/>
          <p:nvPr/>
        </p:nvSpPr>
        <p:spPr>
          <a:xfrm>
            <a:off x="6537960" y="3447288"/>
            <a:ext cx="2240280" cy="777240"/>
          </a:xfrm>
          <a:prstGeom prst="rect">
            <a:avLst/>
          </a:prstGeom>
          <a:noFill/>
          <a:ln/>
        </p:spPr>
        <p:txBody>
          <a:bodyPr wrap="square" rtlCol="0" anchor="ctr"/>
          <a:lstStyle/>
          <a:p>
            <a:pPr algn="ctr" indent="0" marL="0">
              <a:lnSpc>
                <a:spcPts val="1300"/>
              </a:lnSpc>
              <a:buNone/>
            </a:pPr>
            <a:r>
              <a:rPr lang="en-US" sz="1000" dirty="0">
                <a:solidFill>
                  <a:srgbClr val="5B6673"/>
                </a:solidFill>
                <a:latin typeface="Calibri" pitchFamily="34" charset="0"/>
                <a:ea typeface="Calibri" pitchFamily="34" charset="-122"/>
                <a:cs typeface="Calibri" pitchFamily="34" charset="-120"/>
              </a:rPr>
              <a:t>Candidate trajectories generated,</a:t>
            </a:r>
            <a:endParaRPr lang="en-US" sz="1000" dirty="0"/>
          </a:p>
          <a:p>
            <a:pPr algn="ctr" indent="0" marL="0">
              <a:lnSpc>
                <a:spcPts val="1300"/>
              </a:lnSpc>
              <a:buNone/>
            </a:pPr>
            <a:r>
              <a:rPr lang="en-US" sz="1000" dirty="0">
                <a:solidFill>
                  <a:srgbClr val="5B6673"/>
                </a:solidFill>
                <a:latin typeface="Calibri" pitchFamily="34" charset="0"/>
                <a:ea typeface="Calibri" pitchFamily="34" charset="-122"/>
                <a:cs typeface="Calibri" pitchFamily="34" charset="-120"/>
              </a:rPr>
              <a:t>respecting no-go tissue zones</a:t>
            </a:r>
            <a:endParaRPr lang="en-US" sz="1000" dirty="0"/>
          </a:p>
        </p:txBody>
      </p:sp>
      <p:sp>
        <p:nvSpPr>
          <p:cNvPr id="22" name="Text 17"/>
          <p:cNvSpPr/>
          <p:nvPr/>
        </p:nvSpPr>
        <p:spPr>
          <a:xfrm>
            <a:off x="8897112" y="2994660"/>
            <a:ext cx="402336" cy="457200"/>
          </a:xfrm>
          <a:prstGeom prst="rect">
            <a:avLst/>
          </a:prstGeom>
          <a:noFill/>
          <a:ln/>
        </p:spPr>
        <p:txBody>
          <a:bodyPr wrap="square" rtlCol="0" anchor="ctr"/>
          <a:lstStyle/>
          <a:p>
            <a:pPr algn="ctr" indent="0" marL="0">
              <a:buNone/>
            </a:pPr>
            <a:r>
              <a:rPr lang="en-US" sz="2000" b="1" dirty="0">
                <a:solidFill>
                  <a:srgbClr val="F2A65A"/>
                </a:solidFill>
              </a:rPr>
              <a:t>→</a:t>
            </a:r>
            <a:endParaRPr lang="en-US" sz="2000" dirty="0"/>
          </a:p>
        </p:txBody>
      </p:sp>
      <p:sp>
        <p:nvSpPr>
          <p:cNvPr id="23" name="Shape 18"/>
          <p:cNvSpPr/>
          <p:nvPr/>
        </p:nvSpPr>
        <p:spPr>
          <a:xfrm>
            <a:off x="9281160" y="2148840"/>
            <a:ext cx="2514600" cy="2148840"/>
          </a:xfrm>
          <a:prstGeom prst="roundRect">
            <a:avLst>
              <a:gd name="adj" fmla="val 4255"/>
            </a:avLst>
          </a:prstGeom>
          <a:solidFill>
            <a:srgbClr val="0B3D62"/>
          </a:solidFill>
          <a:ln w="12700">
            <a:solidFill>
              <a:srgbClr val="E3E8EE"/>
            </a:solidFill>
            <a:prstDash val="solid"/>
          </a:ln>
        </p:spPr>
      </p:sp>
      <p:sp>
        <p:nvSpPr>
          <p:cNvPr id="24" name="Shape 19"/>
          <p:cNvSpPr/>
          <p:nvPr/>
        </p:nvSpPr>
        <p:spPr>
          <a:xfrm>
            <a:off x="10254996" y="2404872"/>
            <a:ext cx="566928" cy="566928"/>
          </a:xfrm>
          <a:prstGeom prst="ellipse">
            <a:avLst/>
          </a:prstGeom>
          <a:solidFill>
            <a:srgbClr val="F2A65A"/>
          </a:solidFill>
          <a:ln/>
        </p:spPr>
      </p:sp>
      <p:pic>
        <p:nvPicPr>
          <p:cNvPr id="25" name="Image 3" descr="icons/robot.png">    </p:cNvPr>
          <p:cNvPicPr>
            <a:picLocks noChangeAspect="1"/>
          </p:cNvPicPr>
          <p:nvPr/>
        </p:nvPicPr>
        <p:blipFill>
          <a:blip r:embed="rId4"/>
          <a:stretch>
            <a:fillRect/>
          </a:stretch>
        </p:blipFill>
        <p:spPr>
          <a:xfrm>
            <a:off x="10328697" y="2478573"/>
            <a:ext cx="419527" cy="419527"/>
          </a:xfrm>
          <a:prstGeom prst="rect">
            <a:avLst/>
          </a:prstGeom>
        </p:spPr>
      </p:pic>
      <p:sp>
        <p:nvSpPr>
          <p:cNvPr id="26" name="Text 20"/>
          <p:cNvSpPr/>
          <p:nvPr/>
        </p:nvSpPr>
        <p:spPr>
          <a:xfrm>
            <a:off x="9281160" y="3108960"/>
            <a:ext cx="251460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Act</a:t>
            </a:r>
            <a:endParaRPr lang="en-US" sz="1400" dirty="0"/>
          </a:p>
        </p:txBody>
      </p:sp>
      <p:sp>
        <p:nvSpPr>
          <p:cNvPr id="27" name="Text 21"/>
          <p:cNvSpPr/>
          <p:nvPr/>
        </p:nvSpPr>
        <p:spPr>
          <a:xfrm>
            <a:off x="9418320" y="3447288"/>
            <a:ext cx="2240280" cy="777240"/>
          </a:xfrm>
          <a:prstGeom prst="rect">
            <a:avLst/>
          </a:prstGeom>
          <a:noFill/>
          <a:ln/>
        </p:spPr>
        <p:txBody>
          <a:bodyPr wrap="square" rtlCol="0" anchor="ctr"/>
          <a:lstStyle/>
          <a:p>
            <a:pPr algn="ctr" indent="0" marL="0">
              <a:lnSpc>
                <a:spcPts val="1300"/>
              </a:lnSpc>
              <a:buNone/>
            </a:pPr>
            <a:r>
              <a:rPr lang="en-US" sz="1000" dirty="0">
                <a:solidFill>
                  <a:srgbClr val="D7E3EC"/>
                </a:solidFill>
                <a:latin typeface="Calibri" pitchFamily="34" charset="0"/>
                <a:ea typeface="Calibri" pitchFamily="34" charset="-122"/>
                <a:cs typeface="Calibri" pitchFamily="34" charset="-120"/>
              </a:rPr>
              <a:t>Selected motion sent to the robot</a:t>
            </a:r>
            <a:endParaRPr lang="en-US" sz="1000" dirty="0"/>
          </a:p>
          <a:p>
            <a:pPr algn="ctr" indent="0" marL="0">
              <a:lnSpc>
                <a:spcPts val="1300"/>
              </a:lnSpc>
              <a:buNone/>
            </a:pPr>
            <a:r>
              <a:rPr lang="en-US" sz="1000" dirty="0">
                <a:solidFill>
                  <a:srgbClr val="D7E3EC"/>
                </a:solidFill>
                <a:latin typeface="Calibri" pitchFamily="34" charset="0"/>
                <a:ea typeface="Calibri" pitchFamily="34" charset="-122"/>
                <a:cs typeface="Calibri" pitchFamily="34" charset="-120"/>
              </a:rPr>
              <a:t>controller via ROS 2</a:t>
            </a:r>
            <a:endParaRPr lang="en-US" sz="1000" dirty="0"/>
          </a:p>
        </p:txBody>
      </p:sp>
      <p:sp>
        <p:nvSpPr>
          <p:cNvPr id="28" name="Text 22"/>
          <p:cNvSpPr/>
          <p:nvPr/>
        </p:nvSpPr>
        <p:spPr>
          <a:xfrm>
            <a:off x="640080" y="4617720"/>
            <a:ext cx="5486400" cy="320040"/>
          </a:xfrm>
          <a:prstGeom prst="rect">
            <a:avLst/>
          </a:prstGeom>
          <a:noFill/>
          <a:ln/>
        </p:spPr>
        <p:txBody>
          <a:bodyPr wrap="square"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Core Control Principles</a:t>
            </a:r>
            <a:endParaRPr lang="en-US" sz="1400" dirty="0"/>
          </a:p>
        </p:txBody>
      </p:sp>
      <p:sp>
        <p:nvSpPr>
          <p:cNvPr id="29" name="Shape 23"/>
          <p:cNvSpPr/>
          <p:nvPr/>
        </p:nvSpPr>
        <p:spPr>
          <a:xfrm>
            <a:off x="640080" y="5074920"/>
            <a:ext cx="118872" cy="118872"/>
          </a:xfrm>
          <a:prstGeom prst="ellipse">
            <a:avLst/>
          </a:prstGeom>
          <a:solidFill>
            <a:srgbClr val="F2A65A"/>
          </a:solidFill>
          <a:ln/>
        </p:spPr>
      </p:sp>
      <p:sp>
        <p:nvSpPr>
          <p:cNvPr id="30" name="Text 24"/>
          <p:cNvSpPr/>
          <p:nvPr/>
        </p:nvSpPr>
        <p:spPr>
          <a:xfrm>
            <a:off x="896112" y="4956048"/>
            <a:ext cx="10515600" cy="320040"/>
          </a:xfrm>
          <a:prstGeom prst="rect">
            <a:avLst/>
          </a:prstGeom>
          <a:noFill/>
          <a:ln/>
        </p:spPr>
        <p:txBody>
          <a:bodyPr wrap="square" rtlCol="0" anchor="ctr"/>
          <a:lstStyle/>
          <a:p>
            <a:pPr indent="0" marL="0">
              <a:buNone/>
            </a:pPr>
            <a:r>
              <a:rPr lang="en-US" sz="1200" dirty="0">
                <a:solidFill>
                  <a:srgbClr val="1B1F24"/>
                </a:solidFill>
                <a:latin typeface="Calibri" pitchFamily="34" charset="0"/>
                <a:ea typeface="Calibri" pitchFamily="34" charset="-122"/>
                <a:cs typeface="Calibri" pitchFamily="34" charset="-120"/>
              </a:rPr>
              <a:t>Constraint-aware planning around segmented tissue</a:t>
            </a:r>
            <a:endParaRPr lang="en-US" sz="1200" dirty="0"/>
          </a:p>
        </p:txBody>
      </p:sp>
      <p:sp>
        <p:nvSpPr>
          <p:cNvPr id="31" name="Shape 25"/>
          <p:cNvSpPr/>
          <p:nvPr/>
        </p:nvSpPr>
        <p:spPr>
          <a:xfrm>
            <a:off x="640080" y="5486400"/>
            <a:ext cx="118872" cy="118872"/>
          </a:xfrm>
          <a:prstGeom prst="ellipse">
            <a:avLst/>
          </a:prstGeom>
          <a:solidFill>
            <a:srgbClr val="F2A65A"/>
          </a:solidFill>
          <a:ln/>
        </p:spPr>
      </p:sp>
      <p:sp>
        <p:nvSpPr>
          <p:cNvPr id="32" name="Text 26"/>
          <p:cNvSpPr/>
          <p:nvPr/>
        </p:nvSpPr>
        <p:spPr>
          <a:xfrm>
            <a:off x="896112" y="5367528"/>
            <a:ext cx="10515600" cy="320040"/>
          </a:xfrm>
          <a:prstGeom prst="rect">
            <a:avLst/>
          </a:prstGeom>
          <a:noFill/>
          <a:ln/>
        </p:spPr>
        <p:txBody>
          <a:bodyPr wrap="square" rtlCol="0" anchor="ctr"/>
          <a:lstStyle/>
          <a:p>
            <a:pPr indent="0" marL="0">
              <a:buNone/>
            </a:pPr>
            <a:r>
              <a:rPr lang="en-US" sz="1200" dirty="0">
                <a:solidFill>
                  <a:srgbClr val="1B1F24"/>
                </a:solidFill>
                <a:latin typeface="Calibri" pitchFamily="34" charset="0"/>
                <a:ea typeface="Calibri" pitchFamily="34" charset="-122"/>
                <a:cs typeface="Calibri" pitchFamily="34" charset="-120"/>
              </a:rPr>
              <a:t>Confidence-gated actuation — low-confidence detections defer to the surgeon</a:t>
            </a:r>
            <a:endParaRPr lang="en-US" sz="1200" dirty="0"/>
          </a:p>
        </p:txBody>
      </p:sp>
      <p:sp>
        <p:nvSpPr>
          <p:cNvPr id="33" name="Shape 27"/>
          <p:cNvSpPr/>
          <p:nvPr/>
        </p:nvSpPr>
        <p:spPr>
          <a:xfrm>
            <a:off x="640080" y="5897880"/>
            <a:ext cx="118872" cy="118872"/>
          </a:xfrm>
          <a:prstGeom prst="ellipse">
            <a:avLst/>
          </a:prstGeom>
          <a:solidFill>
            <a:srgbClr val="F2A65A"/>
          </a:solidFill>
          <a:ln/>
        </p:spPr>
      </p:sp>
      <p:sp>
        <p:nvSpPr>
          <p:cNvPr id="34" name="Text 28"/>
          <p:cNvSpPr/>
          <p:nvPr/>
        </p:nvSpPr>
        <p:spPr>
          <a:xfrm>
            <a:off x="896112" y="5779008"/>
            <a:ext cx="10515600" cy="320040"/>
          </a:xfrm>
          <a:prstGeom prst="rect">
            <a:avLst/>
          </a:prstGeom>
          <a:noFill/>
          <a:ln/>
        </p:spPr>
        <p:txBody>
          <a:bodyPr wrap="square" rtlCol="0" anchor="ctr"/>
          <a:lstStyle/>
          <a:p>
            <a:pPr indent="0" marL="0">
              <a:buNone/>
            </a:pPr>
            <a:r>
              <a:rPr lang="en-US" sz="1200" dirty="0">
                <a:solidFill>
                  <a:srgbClr val="1B1F24"/>
                </a:solidFill>
                <a:latin typeface="Calibri" pitchFamily="34" charset="0"/>
                <a:ea typeface="Calibri" pitchFamily="34" charset="-122"/>
                <a:cs typeface="Calibri" pitchFamily="34" charset="-120"/>
              </a:rPr>
              <a:t>Every planned motion validated first in Gazebo simulation</a:t>
            </a:r>
            <a:endParaRPr lang="en-US" sz="1200" dirty="0"/>
          </a:p>
        </p:txBody>
      </p:sp>
      <p:sp>
        <p:nvSpPr>
          <p:cNvPr id="35" name="Text 29"/>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6" name="Text 30"/>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F33"/>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F2A65A"/>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640080" y="749808"/>
            <a:ext cx="1078992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Results and Evaluation Based on Accuracy</a:t>
            </a:r>
            <a:endParaRPr lang="en-US" sz="2700" dirty="0"/>
          </a:p>
        </p:txBody>
      </p:sp>
      <p:sp>
        <p:nvSpPr>
          <p:cNvPr id="4" name="Text 2"/>
          <p:cNvSpPr/>
          <p:nvPr/>
        </p:nvSpPr>
        <p:spPr>
          <a:xfrm>
            <a:off x="640080" y="1353312"/>
            <a:ext cx="9144000" cy="365760"/>
          </a:xfrm>
          <a:prstGeom prst="rect">
            <a:avLst/>
          </a:prstGeom>
          <a:noFill/>
          <a:ln/>
        </p:spPr>
        <p:txBody>
          <a:bodyPr wrap="square" rtlCol="0" anchor="ctr"/>
          <a:lstStyle/>
          <a:p>
            <a:pPr indent="0" marL="0">
              <a:buNone/>
            </a:pPr>
            <a:r>
              <a:rPr lang="en-US" sz="1300" i="1" dirty="0">
                <a:solidFill>
                  <a:srgbClr val="9FB4C7"/>
                </a:solidFill>
                <a:latin typeface="Calibri" pitchFamily="34" charset="0"/>
                <a:ea typeface="Calibri" pitchFamily="34" charset="-122"/>
                <a:cs typeface="Calibri" pitchFamily="34" charset="-120"/>
              </a:rPr>
              <a:t>U-Net segmentation performance on the EndoVis2017 validation set</a:t>
            </a:r>
            <a:endParaRPr lang="en-US" sz="1300" dirty="0"/>
          </a:p>
        </p:txBody>
      </p:sp>
      <p:sp>
        <p:nvSpPr>
          <p:cNvPr id="5" name="Shape 3"/>
          <p:cNvSpPr/>
          <p:nvPr/>
        </p:nvSpPr>
        <p:spPr>
          <a:xfrm>
            <a:off x="640080" y="1965960"/>
            <a:ext cx="2514600" cy="1600200"/>
          </a:xfrm>
          <a:prstGeom prst="roundRect">
            <a:avLst>
              <a:gd name="adj" fmla="val 6857"/>
            </a:avLst>
          </a:prstGeom>
          <a:solidFill>
            <a:srgbClr val="0B3D62"/>
          </a:solidFill>
          <a:ln w="12700">
            <a:solidFill>
              <a:srgbClr val="1C8FA0"/>
            </a:solidFill>
            <a:prstDash val="solid"/>
          </a:ln>
        </p:spPr>
      </p:sp>
      <p:sp>
        <p:nvSpPr>
          <p:cNvPr id="6" name="Text 4"/>
          <p:cNvSpPr/>
          <p:nvPr/>
        </p:nvSpPr>
        <p:spPr>
          <a:xfrm>
            <a:off x="640080" y="2130552"/>
            <a:ext cx="2514600" cy="777240"/>
          </a:xfrm>
          <a:prstGeom prst="rect">
            <a:avLst/>
          </a:prstGeom>
          <a:noFill/>
          <a:ln/>
        </p:spPr>
        <p:txBody>
          <a:bodyPr wrap="square" rtlCol="0" anchor="ctr"/>
          <a:lstStyle/>
          <a:p>
            <a:pPr algn="ctr" indent="0" marL="0">
              <a:buNone/>
            </a:pPr>
            <a:r>
              <a:rPr lang="en-US" sz="3400" b="1" dirty="0">
                <a:solidFill>
                  <a:srgbClr val="F2A65A"/>
                </a:solidFill>
                <a:latin typeface="Calibri" pitchFamily="34" charset="0"/>
                <a:ea typeface="Calibri" pitchFamily="34" charset="-122"/>
                <a:cs typeface="Calibri" pitchFamily="34" charset="-120"/>
              </a:rPr>
              <a:t>93.17%</a:t>
            </a:r>
            <a:endParaRPr lang="en-US" sz="3400" dirty="0"/>
          </a:p>
        </p:txBody>
      </p:sp>
      <p:sp>
        <p:nvSpPr>
          <p:cNvPr id="7" name="Text 5"/>
          <p:cNvSpPr/>
          <p:nvPr/>
        </p:nvSpPr>
        <p:spPr>
          <a:xfrm>
            <a:off x="640080" y="2926080"/>
            <a:ext cx="251460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Dice Score</a:t>
            </a:r>
            <a:endParaRPr lang="en-US" sz="1300" dirty="0"/>
          </a:p>
        </p:txBody>
      </p:sp>
      <p:sp>
        <p:nvSpPr>
          <p:cNvPr id="8" name="Shape 6"/>
          <p:cNvSpPr/>
          <p:nvPr/>
        </p:nvSpPr>
        <p:spPr>
          <a:xfrm>
            <a:off x="3410712" y="1965960"/>
            <a:ext cx="2514600" cy="1600200"/>
          </a:xfrm>
          <a:prstGeom prst="roundRect">
            <a:avLst>
              <a:gd name="adj" fmla="val 6857"/>
            </a:avLst>
          </a:prstGeom>
          <a:solidFill>
            <a:srgbClr val="0B3D62"/>
          </a:solidFill>
          <a:ln w="12700">
            <a:solidFill>
              <a:srgbClr val="1C8FA0"/>
            </a:solidFill>
            <a:prstDash val="solid"/>
          </a:ln>
        </p:spPr>
      </p:sp>
      <p:sp>
        <p:nvSpPr>
          <p:cNvPr id="9" name="Text 7"/>
          <p:cNvSpPr/>
          <p:nvPr/>
        </p:nvSpPr>
        <p:spPr>
          <a:xfrm>
            <a:off x="3410712" y="2130552"/>
            <a:ext cx="2514600" cy="777240"/>
          </a:xfrm>
          <a:prstGeom prst="rect">
            <a:avLst/>
          </a:prstGeom>
          <a:noFill/>
          <a:ln/>
        </p:spPr>
        <p:txBody>
          <a:bodyPr wrap="square" rtlCol="0" anchor="ctr"/>
          <a:lstStyle/>
          <a:p>
            <a:pPr algn="ctr" indent="0" marL="0">
              <a:buNone/>
            </a:pPr>
            <a:r>
              <a:rPr lang="en-US" sz="3400" b="1" dirty="0">
                <a:solidFill>
                  <a:srgbClr val="F2A65A"/>
                </a:solidFill>
                <a:latin typeface="Calibri" pitchFamily="34" charset="0"/>
                <a:ea typeface="Calibri" pitchFamily="34" charset="-122"/>
                <a:cs typeface="Calibri" pitchFamily="34" charset="-120"/>
              </a:rPr>
              <a:t>87.22%</a:t>
            </a:r>
            <a:endParaRPr lang="en-US" sz="3400" dirty="0"/>
          </a:p>
        </p:txBody>
      </p:sp>
      <p:sp>
        <p:nvSpPr>
          <p:cNvPr id="10" name="Text 8"/>
          <p:cNvSpPr/>
          <p:nvPr/>
        </p:nvSpPr>
        <p:spPr>
          <a:xfrm>
            <a:off x="3410712" y="2926080"/>
            <a:ext cx="251460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IoU</a:t>
            </a:r>
            <a:endParaRPr lang="en-US" sz="1300" dirty="0"/>
          </a:p>
        </p:txBody>
      </p:sp>
      <p:sp>
        <p:nvSpPr>
          <p:cNvPr id="11" name="Shape 9"/>
          <p:cNvSpPr/>
          <p:nvPr/>
        </p:nvSpPr>
        <p:spPr>
          <a:xfrm>
            <a:off x="6181344" y="1965960"/>
            <a:ext cx="2514600" cy="1600200"/>
          </a:xfrm>
          <a:prstGeom prst="roundRect">
            <a:avLst>
              <a:gd name="adj" fmla="val 6857"/>
            </a:avLst>
          </a:prstGeom>
          <a:solidFill>
            <a:srgbClr val="0B3D62"/>
          </a:solidFill>
          <a:ln w="12700">
            <a:solidFill>
              <a:srgbClr val="1C8FA0"/>
            </a:solidFill>
            <a:prstDash val="solid"/>
          </a:ln>
        </p:spPr>
      </p:sp>
      <p:sp>
        <p:nvSpPr>
          <p:cNvPr id="12" name="Text 10"/>
          <p:cNvSpPr/>
          <p:nvPr/>
        </p:nvSpPr>
        <p:spPr>
          <a:xfrm>
            <a:off x="6181344" y="2130552"/>
            <a:ext cx="2514600" cy="777240"/>
          </a:xfrm>
          <a:prstGeom prst="rect">
            <a:avLst/>
          </a:prstGeom>
          <a:noFill/>
          <a:ln/>
        </p:spPr>
        <p:txBody>
          <a:bodyPr wrap="square" rtlCol="0" anchor="ctr"/>
          <a:lstStyle/>
          <a:p>
            <a:pPr algn="ctr" indent="0" marL="0">
              <a:buNone/>
            </a:pPr>
            <a:r>
              <a:rPr lang="en-US" sz="3400" b="1" dirty="0">
                <a:solidFill>
                  <a:srgbClr val="F2A65A"/>
                </a:solidFill>
                <a:latin typeface="Calibri" pitchFamily="34" charset="0"/>
                <a:ea typeface="Calibri" pitchFamily="34" charset="-122"/>
                <a:cs typeface="Calibri" pitchFamily="34" charset="-120"/>
              </a:rPr>
              <a:t>92.43%</a:t>
            </a:r>
            <a:endParaRPr lang="en-US" sz="3400" dirty="0"/>
          </a:p>
        </p:txBody>
      </p:sp>
      <p:sp>
        <p:nvSpPr>
          <p:cNvPr id="13" name="Text 11"/>
          <p:cNvSpPr/>
          <p:nvPr/>
        </p:nvSpPr>
        <p:spPr>
          <a:xfrm>
            <a:off x="6181344" y="2926080"/>
            <a:ext cx="251460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Precision</a:t>
            </a:r>
            <a:endParaRPr lang="en-US" sz="1300" dirty="0"/>
          </a:p>
        </p:txBody>
      </p:sp>
      <p:sp>
        <p:nvSpPr>
          <p:cNvPr id="14" name="Shape 12"/>
          <p:cNvSpPr/>
          <p:nvPr/>
        </p:nvSpPr>
        <p:spPr>
          <a:xfrm>
            <a:off x="8951976" y="1965960"/>
            <a:ext cx="2514600" cy="1600200"/>
          </a:xfrm>
          <a:prstGeom prst="roundRect">
            <a:avLst>
              <a:gd name="adj" fmla="val 6857"/>
            </a:avLst>
          </a:prstGeom>
          <a:solidFill>
            <a:srgbClr val="0B3D62"/>
          </a:solidFill>
          <a:ln w="12700">
            <a:solidFill>
              <a:srgbClr val="1C8FA0"/>
            </a:solidFill>
            <a:prstDash val="solid"/>
          </a:ln>
        </p:spPr>
      </p:sp>
      <p:sp>
        <p:nvSpPr>
          <p:cNvPr id="15" name="Text 13"/>
          <p:cNvSpPr/>
          <p:nvPr/>
        </p:nvSpPr>
        <p:spPr>
          <a:xfrm>
            <a:off x="8951976" y="2130552"/>
            <a:ext cx="2514600" cy="777240"/>
          </a:xfrm>
          <a:prstGeom prst="rect">
            <a:avLst/>
          </a:prstGeom>
          <a:noFill/>
          <a:ln/>
        </p:spPr>
        <p:txBody>
          <a:bodyPr wrap="square" rtlCol="0" anchor="ctr"/>
          <a:lstStyle/>
          <a:p>
            <a:pPr algn="ctr" indent="0" marL="0">
              <a:buNone/>
            </a:pPr>
            <a:r>
              <a:rPr lang="en-US" sz="3400" b="1" dirty="0">
                <a:solidFill>
                  <a:srgbClr val="F2A65A"/>
                </a:solidFill>
                <a:latin typeface="Calibri" pitchFamily="34" charset="0"/>
                <a:ea typeface="Calibri" pitchFamily="34" charset="-122"/>
                <a:cs typeface="Calibri" pitchFamily="34" charset="-120"/>
              </a:rPr>
              <a:t>93.93%</a:t>
            </a:r>
            <a:endParaRPr lang="en-US" sz="3400" dirty="0"/>
          </a:p>
        </p:txBody>
      </p:sp>
      <p:sp>
        <p:nvSpPr>
          <p:cNvPr id="16" name="Text 14"/>
          <p:cNvSpPr/>
          <p:nvPr/>
        </p:nvSpPr>
        <p:spPr>
          <a:xfrm>
            <a:off x="8951976" y="2926080"/>
            <a:ext cx="251460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Recall</a:t>
            </a:r>
            <a:endParaRPr lang="en-US" sz="1300" dirty="0"/>
          </a:p>
        </p:txBody>
      </p:sp>
      <p:graphicFrame>
        <p:nvGraphicFramePr>
          <p:cNvPr id="17" name="Chart 0" descr=""/>
          <p:cNvGraphicFramePr/>
          <p:nvPr/>
        </p:nvGraphicFramePr>
        <p:xfrm>
          <a:off x="640080" y="3794760"/>
          <a:ext cx="5669280" cy="269748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6675120" y="3794760"/>
            <a:ext cx="4892040" cy="2697480"/>
          </a:xfrm>
          <a:prstGeom prst="roundRect">
            <a:avLst>
              <a:gd name="adj" fmla="val 4068"/>
            </a:avLst>
          </a:prstGeom>
          <a:solidFill>
            <a:srgbClr val="0B3D62"/>
          </a:solidFill>
          <a:ln/>
        </p:spPr>
      </p:sp>
      <p:sp>
        <p:nvSpPr>
          <p:cNvPr id="19" name="Text 16"/>
          <p:cNvSpPr/>
          <p:nvPr/>
        </p:nvSpPr>
        <p:spPr>
          <a:xfrm>
            <a:off x="6949440" y="3977640"/>
            <a:ext cx="43434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Project Summary</a:t>
            </a:r>
            <a:endParaRPr lang="en-US" sz="1400" dirty="0"/>
          </a:p>
        </p:txBody>
      </p:sp>
      <p:sp>
        <p:nvSpPr>
          <p:cNvPr id="20" name="Text 17"/>
          <p:cNvSpPr/>
          <p:nvPr/>
        </p:nvSpPr>
        <p:spPr>
          <a:xfrm>
            <a:off x="6949440" y="4389120"/>
            <a:ext cx="3063240" cy="292608"/>
          </a:xfrm>
          <a:prstGeom prst="rect">
            <a:avLst/>
          </a:prstGeom>
          <a:noFill/>
          <a:ln/>
        </p:spPr>
        <p:txBody>
          <a:bodyPr wrap="square" rtlCol="0" anchor="ctr"/>
          <a:lstStyle/>
          <a:p>
            <a:pPr indent="0" marL="0">
              <a:buNone/>
            </a:pPr>
            <a:r>
              <a:rPr lang="en-US" sz="1150" dirty="0">
                <a:solidFill>
                  <a:srgbClr val="C7D6E3"/>
                </a:solidFill>
                <a:latin typeface="Calibri" pitchFamily="34" charset="0"/>
                <a:ea typeface="Calibri" pitchFamily="34" charset="-122"/>
                <a:cs typeface="Calibri" pitchFamily="34" charset="-120"/>
              </a:rPr>
              <a:t>Best validation loss</a:t>
            </a:r>
            <a:endParaRPr lang="en-US" sz="1150" dirty="0"/>
          </a:p>
        </p:txBody>
      </p:sp>
      <p:sp>
        <p:nvSpPr>
          <p:cNvPr id="21" name="Text 18"/>
          <p:cNvSpPr/>
          <p:nvPr/>
        </p:nvSpPr>
        <p:spPr>
          <a:xfrm>
            <a:off x="9829800" y="4389120"/>
            <a:ext cx="1463040" cy="292608"/>
          </a:xfrm>
          <a:prstGeom prst="rect">
            <a:avLst/>
          </a:prstGeom>
          <a:noFill/>
          <a:ln/>
        </p:spPr>
        <p:txBody>
          <a:bodyPr wrap="square" rtlCol="0" anchor="ctr"/>
          <a:lstStyle/>
          <a:p>
            <a:pPr algn="r" indent="0" marL="0">
              <a:buNone/>
            </a:pPr>
            <a:r>
              <a:rPr lang="en-US" sz="1150" b="1" dirty="0">
                <a:solidFill>
                  <a:srgbClr val="F2A65A"/>
                </a:solidFill>
                <a:latin typeface="Calibri" pitchFamily="34" charset="0"/>
                <a:ea typeface="Calibri" pitchFamily="34" charset="-122"/>
                <a:cs typeface="Calibri" pitchFamily="34" charset="-120"/>
              </a:rPr>
              <a:t>0.1744</a:t>
            </a:r>
            <a:endParaRPr lang="en-US" sz="1150" dirty="0"/>
          </a:p>
        </p:txBody>
      </p:sp>
      <p:sp>
        <p:nvSpPr>
          <p:cNvPr id="22" name="Text 19"/>
          <p:cNvSpPr/>
          <p:nvPr/>
        </p:nvSpPr>
        <p:spPr>
          <a:xfrm>
            <a:off x="6949440" y="4754880"/>
            <a:ext cx="3063240" cy="292608"/>
          </a:xfrm>
          <a:prstGeom prst="rect">
            <a:avLst/>
          </a:prstGeom>
          <a:noFill/>
          <a:ln/>
        </p:spPr>
        <p:txBody>
          <a:bodyPr wrap="square" rtlCol="0" anchor="ctr"/>
          <a:lstStyle/>
          <a:p>
            <a:pPr indent="0" marL="0">
              <a:buNone/>
            </a:pPr>
            <a:r>
              <a:rPr lang="en-US" sz="1150" dirty="0">
                <a:solidFill>
                  <a:srgbClr val="C7D6E3"/>
                </a:solidFill>
                <a:latin typeface="Calibri" pitchFamily="34" charset="0"/>
                <a:ea typeface="Calibri" pitchFamily="34" charset="-122"/>
                <a:cs typeface="Calibri" pitchFamily="34" charset="-120"/>
              </a:rPr>
              <a:t>Training samples</a:t>
            </a:r>
            <a:endParaRPr lang="en-US" sz="1150" dirty="0"/>
          </a:p>
        </p:txBody>
      </p:sp>
      <p:sp>
        <p:nvSpPr>
          <p:cNvPr id="23" name="Text 20"/>
          <p:cNvSpPr/>
          <p:nvPr/>
        </p:nvSpPr>
        <p:spPr>
          <a:xfrm>
            <a:off x="9829800" y="4754880"/>
            <a:ext cx="1463040" cy="292608"/>
          </a:xfrm>
          <a:prstGeom prst="rect">
            <a:avLst/>
          </a:prstGeom>
          <a:noFill/>
          <a:ln/>
        </p:spPr>
        <p:txBody>
          <a:bodyPr wrap="square" rtlCol="0" anchor="ctr"/>
          <a:lstStyle/>
          <a:p>
            <a:pPr algn="r" indent="0" marL="0">
              <a:buNone/>
            </a:pPr>
            <a:r>
              <a:rPr lang="en-US" sz="1150" b="1" dirty="0">
                <a:solidFill>
                  <a:srgbClr val="F2A65A"/>
                </a:solidFill>
                <a:latin typeface="Calibri" pitchFamily="34" charset="0"/>
                <a:ea typeface="Calibri" pitchFamily="34" charset="-122"/>
                <a:cs typeface="Calibri" pitchFamily="34" charset="-120"/>
              </a:rPr>
              <a:t>1,800 frames</a:t>
            </a:r>
            <a:endParaRPr lang="en-US" sz="1150" dirty="0"/>
          </a:p>
        </p:txBody>
      </p:sp>
      <p:sp>
        <p:nvSpPr>
          <p:cNvPr id="24" name="Text 21"/>
          <p:cNvSpPr/>
          <p:nvPr/>
        </p:nvSpPr>
        <p:spPr>
          <a:xfrm>
            <a:off x="6949440" y="5120640"/>
            <a:ext cx="3063240" cy="292608"/>
          </a:xfrm>
          <a:prstGeom prst="rect">
            <a:avLst/>
          </a:prstGeom>
          <a:noFill/>
          <a:ln/>
        </p:spPr>
        <p:txBody>
          <a:bodyPr wrap="square" rtlCol="0" anchor="ctr"/>
          <a:lstStyle/>
          <a:p>
            <a:pPr indent="0" marL="0">
              <a:buNone/>
            </a:pPr>
            <a:r>
              <a:rPr lang="en-US" sz="1150" dirty="0">
                <a:solidFill>
                  <a:srgbClr val="C7D6E3"/>
                </a:solidFill>
                <a:latin typeface="Calibri" pitchFamily="34" charset="0"/>
                <a:ea typeface="Calibri" pitchFamily="34" charset="-122"/>
                <a:cs typeface="Calibri" pitchFamily="34" charset="-120"/>
              </a:rPr>
              <a:t>Validation samples</a:t>
            </a:r>
            <a:endParaRPr lang="en-US" sz="1150" dirty="0"/>
          </a:p>
        </p:txBody>
      </p:sp>
      <p:sp>
        <p:nvSpPr>
          <p:cNvPr id="25" name="Text 22"/>
          <p:cNvSpPr/>
          <p:nvPr/>
        </p:nvSpPr>
        <p:spPr>
          <a:xfrm>
            <a:off x="9829800" y="5120640"/>
            <a:ext cx="1463040" cy="292608"/>
          </a:xfrm>
          <a:prstGeom prst="rect">
            <a:avLst/>
          </a:prstGeom>
          <a:noFill/>
          <a:ln/>
        </p:spPr>
        <p:txBody>
          <a:bodyPr wrap="square" rtlCol="0" anchor="ctr"/>
          <a:lstStyle/>
          <a:p>
            <a:pPr algn="r" indent="0" marL="0">
              <a:buNone/>
            </a:pPr>
            <a:r>
              <a:rPr lang="en-US" sz="1150" b="1" dirty="0">
                <a:solidFill>
                  <a:srgbClr val="F2A65A"/>
                </a:solidFill>
                <a:latin typeface="Calibri" pitchFamily="34" charset="0"/>
                <a:ea typeface="Calibri" pitchFamily="34" charset="-122"/>
                <a:cs typeface="Calibri" pitchFamily="34" charset="-120"/>
              </a:rPr>
              <a:t>901 frames</a:t>
            </a:r>
            <a:endParaRPr lang="en-US" sz="1150" dirty="0"/>
          </a:p>
        </p:txBody>
      </p:sp>
      <p:sp>
        <p:nvSpPr>
          <p:cNvPr id="26" name="Text 23"/>
          <p:cNvSpPr/>
          <p:nvPr/>
        </p:nvSpPr>
        <p:spPr>
          <a:xfrm>
            <a:off x="6949440" y="5486400"/>
            <a:ext cx="3063240" cy="292608"/>
          </a:xfrm>
          <a:prstGeom prst="rect">
            <a:avLst/>
          </a:prstGeom>
          <a:noFill/>
          <a:ln/>
        </p:spPr>
        <p:txBody>
          <a:bodyPr wrap="square" rtlCol="0" anchor="ctr"/>
          <a:lstStyle/>
          <a:p>
            <a:pPr indent="0" marL="0">
              <a:buNone/>
            </a:pPr>
            <a:r>
              <a:rPr lang="en-US" sz="1150" dirty="0">
                <a:solidFill>
                  <a:srgbClr val="C7D6E3"/>
                </a:solidFill>
                <a:latin typeface="Calibri" pitchFamily="34" charset="0"/>
                <a:ea typeface="Calibri" pitchFamily="34" charset="-122"/>
                <a:cs typeface="Calibri" pitchFamily="34" charset="-120"/>
              </a:rPr>
              <a:t>YOLO detection</a:t>
            </a:r>
            <a:endParaRPr lang="en-US" sz="1150" dirty="0"/>
          </a:p>
        </p:txBody>
      </p:sp>
      <p:sp>
        <p:nvSpPr>
          <p:cNvPr id="27" name="Text 24"/>
          <p:cNvSpPr/>
          <p:nvPr/>
        </p:nvSpPr>
        <p:spPr>
          <a:xfrm>
            <a:off x="9829800" y="5486400"/>
            <a:ext cx="1463040" cy="292608"/>
          </a:xfrm>
          <a:prstGeom prst="rect">
            <a:avLst/>
          </a:prstGeom>
          <a:noFill/>
          <a:ln/>
        </p:spPr>
        <p:txBody>
          <a:bodyPr wrap="square" rtlCol="0" anchor="ctr"/>
          <a:lstStyle/>
          <a:p>
            <a:pPr algn="r" indent="0" marL="0">
              <a:buNone/>
            </a:pPr>
            <a:r>
              <a:rPr lang="en-US" sz="1150" b="1" dirty="0">
                <a:solidFill>
                  <a:srgbClr val="F2A65A"/>
                </a:solidFill>
                <a:latin typeface="Calibri" pitchFamily="34" charset="0"/>
                <a:ea typeface="Calibri" pitchFamily="34" charset="-122"/>
                <a:cs typeface="Calibri" pitchFamily="34" charset="-120"/>
              </a:rPr>
              <a:t>Implemented</a:t>
            </a:r>
            <a:endParaRPr lang="en-US" sz="1150" dirty="0"/>
          </a:p>
        </p:txBody>
      </p:sp>
      <p:sp>
        <p:nvSpPr>
          <p:cNvPr id="28" name="Text 25"/>
          <p:cNvSpPr/>
          <p:nvPr/>
        </p:nvSpPr>
        <p:spPr>
          <a:xfrm>
            <a:off x="6949440" y="5852160"/>
            <a:ext cx="3063240" cy="292608"/>
          </a:xfrm>
          <a:prstGeom prst="rect">
            <a:avLst/>
          </a:prstGeom>
          <a:noFill/>
          <a:ln/>
        </p:spPr>
        <p:txBody>
          <a:bodyPr wrap="square" rtlCol="0" anchor="ctr"/>
          <a:lstStyle/>
          <a:p>
            <a:pPr indent="0" marL="0">
              <a:buNone/>
            </a:pPr>
            <a:r>
              <a:rPr lang="en-US" sz="1150" dirty="0">
                <a:solidFill>
                  <a:srgbClr val="C7D6E3"/>
                </a:solidFill>
                <a:latin typeface="Calibri" pitchFamily="34" charset="0"/>
                <a:ea typeface="Calibri" pitchFamily="34" charset="-122"/>
                <a:cs typeface="Calibri" pitchFamily="34" charset="-120"/>
              </a:rPr>
              <a:t>ROS 2 integration</a:t>
            </a:r>
            <a:endParaRPr lang="en-US" sz="1150" dirty="0"/>
          </a:p>
        </p:txBody>
      </p:sp>
      <p:sp>
        <p:nvSpPr>
          <p:cNvPr id="29" name="Text 26"/>
          <p:cNvSpPr/>
          <p:nvPr/>
        </p:nvSpPr>
        <p:spPr>
          <a:xfrm>
            <a:off x="9829800" y="5852160"/>
            <a:ext cx="1463040" cy="292608"/>
          </a:xfrm>
          <a:prstGeom prst="rect">
            <a:avLst/>
          </a:prstGeom>
          <a:noFill/>
          <a:ln/>
        </p:spPr>
        <p:txBody>
          <a:bodyPr wrap="square" rtlCol="0" anchor="ctr"/>
          <a:lstStyle/>
          <a:p>
            <a:pPr algn="r" indent="0" marL="0">
              <a:buNone/>
            </a:pPr>
            <a:r>
              <a:rPr lang="en-US" sz="1150" b="1" dirty="0">
                <a:solidFill>
                  <a:srgbClr val="F2A65A"/>
                </a:solidFill>
                <a:latin typeface="Calibri" pitchFamily="34" charset="0"/>
                <a:ea typeface="Calibri" pitchFamily="34" charset="-122"/>
                <a:cs typeface="Calibri" pitchFamily="34" charset="-120"/>
              </a:rPr>
              <a:t>Completed</a:t>
            </a:r>
            <a:endParaRPr lang="en-US" sz="1150" dirty="0"/>
          </a:p>
        </p:txBody>
      </p:sp>
      <p:sp>
        <p:nvSpPr>
          <p:cNvPr id="30" name="Shape 27"/>
          <p:cNvSpPr/>
          <p:nvPr/>
        </p:nvSpPr>
        <p:spPr>
          <a:xfrm>
            <a:off x="6949440" y="6263640"/>
            <a:ext cx="4343400" cy="411480"/>
          </a:xfrm>
          <a:prstGeom prst="roundRect">
            <a:avLst>
              <a:gd name="adj" fmla="val 17778"/>
            </a:avLst>
          </a:prstGeom>
          <a:solidFill>
            <a:srgbClr val="1C8FA0"/>
          </a:solidFill>
          <a:ln/>
        </p:spPr>
      </p:sp>
      <p:sp>
        <p:nvSpPr>
          <p:cNvPr id="31" name="Text 28"/>
          <p:cNvSpPr/>
          <p:nvPr/>
        </p:nvSpPr>
        <p:spPr>
          <a:xfrm>
            <a:off x="6949440" y="6263640"/>
            <a:ext cx="4343400" cy="411480"/>
          </a:xfrm>
          <a:prstGeom prst="rect">
            <a:avLst/>
          </a:prstGeom>
          <a:noFill/>
          <a:ln/>
        </p:spPr>
        <p:txBody>
          <a:bodyPr wrap="square"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STATUS: COMPLETED</a:t>
            </a:r>
            <a:endParaRPr lang="en-US" sz="1200" dirty="0"/>
          </a:p>
        </p:txBody>
      </p:sp>
      <p:sp>
        <p:nvSpPr>
          <p:cNvPr id="32" name="Text 29"/>
          <p:cNvSpPr/>
          <p:nvPr/>
        </p:nvSpPr>
        <p:spPr>
          <a:xfrm>
            <a:off x="457200" y="6473952"/>
            <a:ext cx="5486400" cy="274320"/>
          </a:xfrm>
          <a:prstGeom prst="rect">
            <a:avLst/>
          </a:prstGeom>
          <a:noFill/>
          <a:ln/>
        </p:spPr>
        <p:txBody>
          <a:bodyPr wrap="square" rtlCol="0" anchor="ctr"/>
          <a:lstStyle/>
          <a:p>
            <a:pPr indent="0" marL="0">
              <a:buNone/>
            </a:pPr>
            <a:r>
              <a:rPr lang="en-US" sz="900" spc="100" kern="0" dirty="0">
                <a:solidFill>
                  <a:srgbClr val="5B6673"/>
                </a:solidFill>
                <a:latin typeface="Calibri" pitchFamily="34" charset="0"/>
                <a:ea typeface="Calibri" pitchFamily="34" charset="-122"/>
                <a:cs typeface="Calibri" pitchFamily="34" charset="-120"/>
              </a:rPr>
              <a:t>AI-ASSISTED ROBOTIC SURGERY</a:t>
            </a:r>
            <a:endParaRPr lang="en-US" sz="900" dirty="0"/>
          </a:p>
        </p:txBody>
      </p:sp>
      <p:sp>
        <p:nvSpPr>
          <p:cNvPr id="33" name="Text 30"/>
          <p:cNvSpPr/>
          <p:nvPr/>
        </p:nvSpPr>
        <p:spPr>
          <a:xfrm>
            <a:off x="11274552" y="6473952"/>
            <a:ext cx="548640" cy="274320"/>
          </a:xfrm>
          <a:prstGeom prst="rect">
            <a:avLst/>
          </a:prstGeom>
          <a:noFill/>
          <a:ln/>
        </p:spPr>
        <p:txBody>
          <a:bodyPr wrap="square" rtlCol="0" anchor="ctr"/>
          <a:lstStyle/>
          <a:p>
            <a:pPr algn="r" indent="0" marL="0">
              <a:buNone/>
            </a:pPr>
            <a:r>
              <a:rPr lang="en-US" sz="900" dirty="0">
                <a:solidFill>
                  <a:srgbClr val="5B66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2026-08-25T02:12:00Z</dcterms:created>
  <dcterms:modified xsi:type="dcterms:W3CDTF">2026-08-25T02:12:00Z</dcterms:modified>
</cp:coreProperties>
</file>